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Plataforma de Gerenciamento Inteligente</a:t>
            </a:r>
            <a:br/>
            <a:r>
              <a:t>de Canais de Streaming com 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4FC3F7"/>
                </a:solidFill>
              </a:defRPr>
            </a:pPr>
            <a:r>
              <a:t>Chatbot para Operadores NOC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DBDBD"/>
                </a:solidFill>
              </a:defRPr>
            </a:pPr>
            <a:r>
              <a:t>Amazon Bedrock  |  MediaLive  |  MediaPackage V2  |  MediaTailor  |  CloudFront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O Desafio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515600" cy="100584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73152" cy="1005840"/>
          </a:xfrm>
          <a:prstGeom prst="rect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463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F5350"/>
                </a:solidFill>
              </a:defRPr>
            </a:pPr>
            <a:r>
              <a:t>~220 canais ao vivo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874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DBDBD"/>
                </a:solidFill>
              </a:defRPr>
            </a:pPr>
            <a:r>
              <a:t>Operadores NOC gerenciam centenas de canais de streaming simultaneamente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606040"/>
            <a:ext cx="10515600" cy="100584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606040"/>
            <a:ext cx="73152" cy="1005840"/>
          </a:xfrm>
          <a:prstGeom prst="rect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697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F5350"/>
                </a:solidFill>
              </a:defRPr>
            </a:pPr>
            <a:r>
              <a:t>Múltiplos consoles AWS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1089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DBDBD"/>
                </a:solidFill>
              </a:defRPr>
            </a:pPr>
            <a:r>
              <a:t>Consultar configurações, logs e métricas exige navegar vários consoles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840480"/>
            <a:ext cx="10515600" cy="100584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840480"/>
            <a:ext cx="73152" cy="1005840"/>
          </a:xfrm>
          <a:prstGeom prst="rect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931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F5350"/>
                </a:solidFill>
              </a:defRPr>
            </a:pPr>
            <a:r>
              <a:t>Criação complexa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343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DBDBD"/>
                </a:solidFill>
              </a:defRPr>
            </a:pPr>
            <a:r>
              <a:t>Criar um canal envolve 4+ serviços AWS com configurações interdependentes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074920"/>
            <a:ext cx="10515600" cy="100584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5074920"/>
            <a:ext cx="73152" cy="1005840"/>
          </a:xfrm>
          <a:prstGeom prst="rect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5166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F5350"/>
                </a:solidFill>
              </a:defRPr>
            </a:pPr>
            <a:r>
              <a:t>Diagnóstico manual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55778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DBDBD"/>
                </a:solidFill>
              </a:defRPr>
            </a:pPr>
            <a:r>
              <a:t>Correlação manual de dados de diferentes fontes para resolver problemas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A Solução — Chatbot Inteligente para NOC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515600" cy="82296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280160"/>
            <a:ext cx="73152" cy="822960"/>
          </a:xfrm>
          <a:prstGeom prst="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35331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6BB6A"/>
                </a:solidFill>
              </a:defRPr>
            </a:pPr>
            <a:r>
              <a:t>Linguagem Natural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6916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DBDBD"/>
                </a:solidFill>
              </a:defRPr>
            </a:pPr>
            <a:r>
              <a:t>Interface conversacional em português para consultas e operações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286000"/>
            <a:ext cx="10515600" cy="82296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286000"/>
            <a:ext cx="73152" cy="822960"/>
          </a:xfrm>
          <a:prstGeom prst="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35915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6BB6A"/>
                </a:solidFill>
              </a:defRPr>
            </a:pPr>
            <a:r>
              <a:t>RAG Inteligente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697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DBDBD"/>
                </a:solidFill>
              </a:defRPr>
            </a:pPr>
            <a:r>
              <a:t>Consulta via Retrieval-Augmented Generation sobre configs e métricas reais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291840"/>
            <a:ext cx="10515600" cy="82296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291840"/>
            <a:ext cx="73152" cy="822960"/>
          </a:xfrm>
          <a:prstGeom prst="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36499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6BB6A"/>
                </a:solidFill>
              </a:defRPr>
            </a:pPr>
            <a:r>
              <a:t>Criação Automatizada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7033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DBDBD"/>
                </a:solidFill>
              </a:defRPr>
            </a:pPr>
            <a:r>
              <a:t>Orquestração de canais completos com rollback automático em caso de falha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297680"/>
            <a:ext cx="10515600" cy="82296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4297680"/>
            <a:ext cx="73152" cy="822960"/>
          </a:xfrm>
          <a:prstGeom prst="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437083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6BB6A"/>
                </a:solidFill>
              </a:defRPr>
            </a:pPr>
            <a:r>
              <a:t>Exportação de Dados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7091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DBDBD"/>
                </a:solidFill>
              </a:defRPr>
            </a:pPr>
            <a:r>
              <a:t>Geração de CSV/JSON com links pré-assinados para download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303520"/>
            <a:ext cx="10515600" cy="82296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5303520"/>
            <a:ext cx="73152" cy="822960"/>
          </a:xfrm>
          <a:prstGeom prst="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537667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6BB6A"/>
                </a:solidFill>
              </a:defRPr>
            </a:pPr>
            <a:r>
              <a:t>Ingestão Automática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7150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DBDBD"/>
                </a:solidFill>
              </a:defRPr>
            </a:pPr>
            <a:r>
              <a:t>Coleta de configurações (6h) e métricas CloudWatch (1h) automaticamente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Arquitetura da Solução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03520" y="502920"/>
            <a:ext cx="1645920" cy="457200"/>
          </a:xfrm>
          <a:prstGeom prst="roundRect">
            <a:avLst/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Operador NOC</a:t>
            </a:r>
          </a:p>
        </p:txBody>
      </p:sp>
      <p:sp>
        <p:nvSpPr>
          <p:cNvPr id="6" name="Rectangle 5"/>
          <p:cNvSpPr/>
          <p:nvPr/>
        </p:nvSpPr>
        <p:spPr>
          <a:xfrm>
            <a:off x="6080760" y="960120"/>
            <a:ext cx="27432" cy="182880"/>
          </a:xfrm>
          <a:prstGeom prst="rect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Isosceles Triangle 6"/>
          <p:cNvSpPr/>
          <p:nvPr/>
        </p:nvSpPr>
        <p:spPr>
          <a:xfrm rot="10800000">
            <a:off x="6007608" y="1143000"/>
            <a:ext cx="182880" cy="137160"/>
          </a:xfrm>
          <a:prstGeom prst="triangle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188720"/>
            <a:ext cx="11612880" cy="7772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1887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4FC3F7"/>
                </a:solidFill>
              </a:defRPr>
            </a:pPr>
            <a:r>
              <a:t>Apresentação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1325880"/>
            <a:ext cx="1645920" cy="50292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4FC3F7"/>
                </a:solidFill>
              </a:defRPr>
            </a:pPr>
            <a:r>
              <a:t>CloudFront</a:t>
            </a:r>
            <a:br/>
            <a:r>
              <a:t>(CDN)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0" y="1325880"/>
            <a:ext cx="1645920" cy="50292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4FC3F7"/>
                </a:solidFill>
              </a:defRPr>
            </a:pPr>
            <a:r>
              <a:t>S3 Frontend</a:t>
            </a:r>
            <a:br/>
            <a:r>
              <a:t>(HTML/JS)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1325880"/>
            <a:ext cx="1645920" cy="50292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4FC3F7"/>
                </a:solidFill>
              </a:defRPr>
            </a:pPr>
            <a:r>
              <a:t>Cognito</a:t>
            </a:r>
            <a:br/>
            <a:r>
              <a:t>(JWT Auth)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371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DBDBD"/>
                </a:solidFill>
              </a:defRPr>
            </a:pPr>
            <a:r>
              <a:t>Chat UI: tema escuro, 45+ sugestões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80760" y="1965960"/>
            <a:ext cx="27432" cy="137160"/>
          </a:xfrm>
          <a:prstGeom prst="rect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 rot="10800000">
            <a:off x="6007608" y="2103120"/>
            <a:ext cx="182880" cy="137160"/>
          </a:xfrm>
          <a:prstGeom prst="triangle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2148840"/>
            <a:ext cx="11612880" cy="777240"/>
          </a:xfrm>
          <a:prstGeom prst="rect">
            <a:avLst/>
          </a:prstGeom>
          <a:solidFill>
            <a:srgbClr val="4A2E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21488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9800"/>
                </a:solidFill>
              </a:defRPr>
            </a:pPr>
            <a:r>
              <a:t>API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0" y="2286000"/>
            <a:ext cx="2011680" cy="50292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9800"/>
                </a:solidFill>
              </a:defRPr>
            </a:pPr>
            <a:r>
              <a:t>API Gateway REST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2286000"/>
            <a:ext cx="2286000" cy="50292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9800"/>
                </a:solidFill>
              </a:defRPr>
            </a:pPr>
            <a:r>
              <a:t>Lambda Function URL</a:t>
            </a:r>
            <a:br/>
            <a:r>
              <a:t>(5min timeout)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80760" y="2926080"/>
            <a:ext cx="27432" cy="137160"/>
          </a:xfrm>
          <a:prstGeom prst="rect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Isosceles Triangle 20"/>
          <p:cNvSpPr/>
          <p:nvPr/>
        </p:nvSpPr>
        <p:spPr>
          <a:xfrm rot="10800000">
            <a:off x="6007608" y="3063240"/>
            <a:ext cx="182880" cy="137160"/>
          </a:xfrm>
          <a:prstGeom prst="triangle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" y="3108960"/>
            <a:ext cx="11612880" cy="1691640"/>
          </a:xfrm>
          <a:prstGeom prst="rect">
            <a:avLst/>
          </a:prstGeom>
          <a:solidFill>
            <a:srgbClr val="2E1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3108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AB47BC"/>
                </a:solidFill>
              </a:defRPr>
            </a:pPr>
            <a:r>
              <a:t>Orquestração (us-east-1)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937760" y="3291840"/>
            <a:ext cx="2286000" cy="50292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9800"/>
                </a:solidFill>
              </a:defRPr>
            </a:pPr>
            <a:r>
              <a:t>Lambda Orquestradora</a:t>
            </a:r>
            <a:br/>
            <a:r>
              <a:t>(Entry Point)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926080" y="3794760"/>
            <a:ext cx="27432" cy="137160"/>
          </a:xfrm>
          <a:prstGeom prst="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Isosceles Triangle 25"/>
          <p:cNvSpPr/>
          <p:nvPr/>
        </p:nvSpPr>
        <p:spPr>
          <a:xfrm rot="10800000">
            <a:off x="2852928" y="3931920"/>
            <a:ext cx="182880" cy="137160"/>
          </a:xfrm>
          <a:prstGeom prst="triangle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080760" y="3794760"/>
            <a:ext cx="27432" cy="137160"/>
          </a:xfrm>
          <a:prstGeom prst="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Isosceles Triangle 27"/>
          <p:cNvSpPr/>
          <p:nvPr/>
        </p:nvSpPr>
        <p:spPr>
          <a:xfrm rot="10800000">
            <a:off x="6007608" y="3931920"/>
            <a:ext cx="182880" cy="137160"/>
          </a:xfrm>
          <a:prstGeom prst="triangle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326880" y="3794760"/>
            <a:ext cx="27432" cy="13716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Isosceles Triangle 29"/>
          <p:cNvSpPr/>
          <p:nvPr/>
        </p:nvSpPr>
        <p:spPr>
          <a:xfrm rot="10800000">
            <a:off x="9253728" y="3931920"/>
            <a:ext cx="182880" cy="137160"/>
          </a:xfrm>
          <a:prstGeom prst="triangle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371600" y="3977639"/>
            <a:ext cx="1828800" cy="50292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AB47BC"/>
                </a:solidFill>
              </a:defRPr>
            </a:pPr>
            <a:r>
              <a:t>Bedrock Agent</a:t>
            </a:r>
            <a:br/>
            <a:r>
              <a:t>(Claude PT-BR)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474720" y="3977639"/>
            <a:ext cx="1371600" cy="50292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66BB6A"/>
                </a:solidFill>
              </a:defRPr>
            </a:pPr>
            <a:r>
              <a:t>KB_CONFIG</a:t>
            </a:r>
            <a:br/>
            <a:r>
              <a:t>(~220 canais)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474720" y="4526280"/>
            <a:ext cx="1371600" cy="41148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66BB6A"/>
                </a:solidFill>
              </a:defRPr>
            </a:pPr>
            <a:r>
              <a:t>KB_LOGS</a:t>
            </a:r>
            <a:br/>
            <a:r>
              <a:t>(métricas)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303520" y="3977639"/>
            <a:ext cx="1828800" cy="50292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66BB6A"/>
                </a:solidFill>
              </a:defRPr>
            </a:pPr>
            <a:r>
              <a:t>Lambda Exportadora</a:t>
            </a:r>
            <a:br/>
            <a:r>
              <a:t>(CSV/JSON)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29600" y="3977639"/>
            <a:ext cx="2286000" cy="50292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F5350"/>
                </a:solidFill>
              </a:defRPr>
            </a:pPr>
            <a:r>
              <a:t>Lambda Configuradora</a:t>
            </a:r>
            <a:br/>
            <a:r>
              <a:t>(Cria Canais + Rollback)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0" y="4206240"/>
            <a:ext cx="228600" cy="27432"/>
          </a:xfrm>
          <a:prstGeom prst="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Isosceles Triangle 36"/>
          <p:cNvSpPr/>
          <p:nvPr/>
        </p:nvSpPr>
        <p:spPr>
          <a:xfrm rot="5400000">
            <a:off x="3429000" y="4133088"/>
            <a:ext cx="137160" cy="182880"/>
          </a:xfrm>
          <a:prstGeom prst="triangle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080760" y="4800600"/>
            <a:ext cx="27432" cy="137160"/>
          </a:xfrm>
          <a:prstGeom prst="rect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Isosceles Triangle 38"/>
          <p:cNvSpPr/>
          <p:nvPr/>
        </p:nvSpPr>
        <p:spPr>
          <a:xfrm rot="10800000">
            <a:off x="6007608" y="4937760"/>
            <a:ext cx="182880" cy="137160"/>
          </a:xfrm>
          <a:prstGeom prst="triangle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74320" y="4983480"/>
            <a:ext cx="11612880" cy="640080"/>
          </a:xfrm>
          <a:prstGeom prst="rect">
            <a:avLst/>
          </a:prstGeom>
          <a:solidFill>
            <a:srgbClr val="1A3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4983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6BB6A"/>
                </a:solidFill>
              </a:defRPr>
            </a:pPr>
            <a:r>
              <a:t>Armazenamento S3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14400" y="5074920"/>
            <a:ext cx="1645920" cy="45720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66BB6A"/>
                </a:solidFill>
              </a:defRPr>
            </a:pPr>
            <a:r>
              <a:t>S3_KBConfig</a:t>
            </a:r>
            <a:br/>
            <a:r>
              <a:t>(JSON flat)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017520" y="5074920"/>
            <a:ext cx="1645920" cy="45720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66BB6A"/>
                </a:solidFill>
              </a:defRPr>
            </a:pPr>
            <a:r>
              <a:t>S3_KBLogs</a:t>
            </a:r>
            <a:br/>
            <a:r>
              <a:t>(Eventos)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120640" y="5074920"/>
            <a:ext cx="1645920" cy="45720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66BB6A"/>
                </a:solidFill>
              </a:defRPr>
            </a:pPr>
            <a:r>
              <a:t>S3_Audit</a:t>
            </a:r>
            <a:br/>
            <a:r>
              <a:t>(365 dias)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223760" y="5074920"/>
            <a:ext cx="1645920" cy="45720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66BB6A"/>
                </a:solidFill>
              </a:defRPr>
            </a:pPr>
            <a:r>
              <a:t>S3_Exports</a:t>
            </a:r>
            <a:br/>
            <a:r>
              <a:t>(24h TTL)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326880" y="5074920"/>
            <a:ext cx="1645920" cy="45720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66BB6A"/>
                </a:solidFill>
              </a:defRPr>
            </a:pPr>
            <a:r>
              <a:t>S3_Frontend</a:t>
            </a:r>
            <a:br/>
            <a:r>
              <a:t>(HTML/JS)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080760" y="5623560"/>
            <a:ext cx="27432" cy="91440"/>
          </a:xfrm>
          <a:prstGeom prst="rect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Isosceles Triangle 47"/>
          <p:cNvSpPr/>
          <p:nvPr/>
        </p:nvSpPr>
        <p:spPr>
          <a:xfrm rot="10800000">
            <a:off x="6007608" y="5715000"/>
            <a:ext cx="182880" cy="137160"/>
          </a:xfrm>
          <a:prstGeom prst="triangle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274320" y="5760720"/>
            <a:ext cx="5303520" cy="960120"/>
          </a:xfrm>
          <a:prstGeom prst="rect">
            <a:avLst/>
          </a:prstGeom>
          <a:solidFill>
            <a:srgbClr val="3A3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65760" y="57607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DD835"/>
                </a:solidFill>
              </a:defRPr>
            </a:pPr>
            <a:r>
              <a:t>Ingestão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57200" y="5989320"/>
            <a:ext cx="2103120" cy="36576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FDD835"/>
                </a:solidFill>
              </a:defRPr>
            </a:pPr>
            <a:r>
              <a:t>EventBridge (6h) → Pipeline_Config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926080" y="5989320"/>
            <a:ext cx="2468880" cy="36576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FDD835"/>
                </a:solidFill>
              </a:defRPr>
            </a:pPr>
            <a:r>
              <a:t>EventBridge (1h) → Pipeline_Logs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" y="638251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BDBDBD"/>
                </a:solidFill>
              </a:defRPr>
            </a:pPr>
            <a:r>
              <a:t>Coleta configs (6h) e métricas CloudWatch (1h) → normaliza → S3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943600" y="5760720"/>
            <a:ext cx="5943600" cy="960120"/>
          </a:xfrm>
          <a:prstGeom prst="rect">
            <a:avLst/>
          </a:prstGeom>
          <a:solidFill>
            <a:srgbClr val="4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035040" y="57607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5350"/>
                </a:solidFill>
              </a:defRPr>
            </a:pPr>
            <a:r>
              <a:t>Streaming (sa-east-1)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126480" y="5989320"/>
            <a:ext cx="1188720" cy="36576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EF5350"/>
                </a:solidFill>
              </a:defRPr>
            </a:pPr>
            <a:r>
              <a:t>MediaLive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498079" y="5989320"/>
            <a:ext cx="1188720" cy="36576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EF5350"/>
                </a:solidFill>
              </a:defRPr>
            </a:pPr>
            <a:r>
              <a:t>MediaPkg V2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869680" y="5989320"/>
            <a:ext cx="1188720" cy="36576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EF5350"/>
                </a:solidFill>
              </a:defRPr>
            </a:pPr>
            <a:r>
              <a:t>MediaTailor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0241280" y="5989320"/>
            <a:ext cx="1188720" cy="36576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EF5350"/>
                </a:solidFill>
              </a:defRPr>
            </a:pPr>
            <a:r>
              <a:t>CloudFront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126480" y="6400800"/>
            <a:ext cx="1188720" cy="27432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FDD835"/>
                </a:solidFill>
              </a:defRPr>
            </a:pPr>
            <a:r>
              <a:t>CloudWatch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Diagrama de Fluxo — Consulta via Chatbot (RAG)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2560320"/>
            <a:ext cx="1188720" cy="822960"/>
          </a:xfrm>
          <a:prstGeom prst="roundRect">
            <a:avLst/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Operador</a:t>
            </a:r>
            <a:br/>
            <a:r>
              <a:t>NOC</a:t>
            </a:r>
          </a:p>
        </p:txBody>
      </p:sp>
      <p:sp>
        <p:nvSpPr>
          <p:cNvPr id="6" name="Rectangle 5"/>
          <p:cNvSpPr/>
          <p:nvPr/>
        </p:nvSpPr>
        <p:spPr>
          <a:xfrm>
            <a:off x="1463040" y="2926080"/>
            <a:ext cx="365760" cy="27432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Isosceles Triangle 6"/>
          <p:cNvSpPr/>
          <p:nvPr/>
        </p:nvSpPr>
        <p:spPr>
          <a:xfrm rot="5400000">
            <a:off x="1828800" y="2852928"/>
            <a:ext cx="137160" cy="182880"/>
          </a:xfrm>
          <a:prstGeom prst="triangle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920240" y="2560320"/>
            <a:ext cx="1463040" cy="822960"/>
          </a:xfrm>
          <a:prstGeom prst="round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CloudFront</a:t>
            </a:r>
            <a:br/>
            <a:r>
              <a:t>+ S3 Frontend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2926080"/>
            <a:ext cx="365760" cy="27432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Isosceles Triangle 9"/>
          <p:cNvSpPr/>
          <p:nvPr/>
        </p:nvSpPr>
        <p:spPr>
          <a:xfrm rot="5400000">
            <a:off x="3749040" y="2852928"/>
            <a:ext cx="137160" cy="182880"/>
          </a:xfrm>
          <a:prstGeom prst="triangle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920240" y="1371600"/>
            <a:ext cx="1463040" cy="548640"/>
          </a:xfrm>
          <a:prstGeom prst="roundRect">
            <a:avLst/>
          </a:prstGeom>
          <a:solidFill>
            <a:srgbClr val="880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Cognito (JWT)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33472" y="1920240"/>
            <a:ext cx="27432" cy="502920"/>
          </a:xfrm>
          <a:prstGeom prst="rect">
            <a:avLst/>
          </a:prstGeom>
          <a:solidFill>
            <a:srgbClr val="880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Isosceles Triangle 12"/>
          <p:cNvSpPr/>
          <p:nvPr/>
        </p:nvSpPr>
        <p:spPr>
          <a:xfrm rot="10800000">
            <a:off x="2560320" y="2423160"/>
            <a:ext cx="182880" cy="137160"/>
          </a:xfrm>
          <a:prstGeom prst="triangle">
            <a:avLst/>
          </a:prstGeom>
          <a:solidFill>
            <a:srgbClr val="880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840480" y="2560320"/>
            <a:ext cx="1645920" cy="822960"/>
          </a:xfrm>
          <a:prstGeom prst="round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Lambda</a:t>
            </a:r>
            <a:br/>
            <a:r>
              <a:t>Orquestradora</a:t>
            </a:r>
            <a:br/>
            <a:r>
              <a:t>(5min timeout)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0" y="2926080"/>
            <a:ext cx="365760" cy="27432"/>
          </a:xfrm>
          <a:prstGeom prst="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Isosceles Triangle 15"/>
          <p:cNvSpPr/>
          <p:nvPr/>
        </p:nvSpPr>
        <p:spPr>
          <a:xfrm rot="5400000">
            <a:off x="5852160" y="2852928"/>
            <a:ext cx="137160" cy="182880"/>
          </a:xfrm>
          <a:prstGeom prst="triangle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943600" y="2560320"/>
            <a:ext cx="1645920" cy="822960"/>
          </a:xfrm>
          <a:prstGeom prst="round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Bedrock Agent</a:t>
            </a:r>
            <a:br/>
            <a:r>
              <a:t>(Claude)</a:t>
            </a:r>
            <a:br/>
            <a:r>
              <a:t>PT-BR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589520" y="2286000"/>
            <a:ext cx="457200" cy="27432"/>
          </a:xfrm>
          <a:prstGeom prst="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Isosceles Triangle 18"/>
          <p:cNvSpPr/>
          <p:nvPr/>
        </p:nvSpPr>
        <p:spPr>
          <a:xfrm rot="5400000">
            <a:off x="8046720" y="2212848"/>
            <a:ext cx="137160" cy="182880"/>
          </a:xfrm>
          <a:prstGeom prst="triangle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589520" y="3474720"/>
            <a:ext cx="457200" cy="27432"/>
          </a:xfrm>
          <a:prstGeom prst="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Isosceles Triangle 20"/>
          <p:cNvSpPr/>
          <p:nvPr/>
        </p:nvSpPr>
        <p:spPr>
          <a:xfrm rot="5400000">
            <a:off x="8046720" y="3401568"/>
            <a:ext cx="137160" cy="182880"/>
          </a:xfrm>
          <a:prstGeom prst="triangle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138160" y="1645920"/>
            <a:ext cx="1828800" cy="1005840"/>
          </a:xfrm>
          <a:prstGeom prst="round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KB_CONFIG</a:t>
            </a:r>
            <a:br/>
            <a:r>
              <a:t>(~220 canais)</a:t>
            </a:r>
            <a:br/>
            <a:r>
              <a:t>JSON flat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38160" y="3200400"/>
            <a:ext cx="1828800" cy="1005840"/>
          </a:xfrm>
          <a:prstGeom prst="round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KB_LOGS</a:t>
            </a:r>
            <a:br/>
            <a:r>
              <a:t>(Métricas CW)</a:t>
            </a:r>
            <a:br/>
            <a:r>
              <a:t>Evento Estruturado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26974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66BB6A"/>
                </a:solidFill>
              </a:defRPr>
            </a:pPr>
            <a:r>
              <a:t>RAG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840480" y="4572000"/>
            <a:ext cx="2743200" cy="731520"/>
          </a:xfrm>
          <a:prstGeom prst="round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Resposta contextualizada</a:t>
            </a:r>
            <a:br/>
            <a:r>
              <a:t>em português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63440" y="3383280"/>
            <a:ext cx="27432" cy="1051560"/>
          </a:xfrm>
          <a:prstGeom prst="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Isosceles Triangle 26"/>
          <p:cNvSpPr/>
          <p:nvPr/>
        </p:nvSpPr>
        <p:spPr>
          <a:xfrm rot="10800000">
            <a:off x="4590288" y="4434840"/>
            <a:ext cx="182880" cy="137160"/>
          </a:xfrm>
          <a:prstGeom prst="triangle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560320" y="4754880"/>
            <a:ext cx="1280160" cy="27432"/>
          </a:xfrm>
          <a:prstGeom prst="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286000" y="44348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AB47BC"/>
                </a:solidFill>
              </a:defRPr>
            </a:pPr>
            <a:r>
              <a:t>← resposta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74320" y="4572000"/>
            <a:ext cx="2011680" cy="201168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46177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6BB6A"/>
                </a:solidFill>
              </a:defRPr>
            </a:pPr>
            <a:r>
              <a:t>Exemplos: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4892040"/>
            <a:ext cx="1828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00">
                <a:solidFill>
                  <a:srgbClr val="BDBDBD"/>
                </a:solidFill>
              </a:defRPr>
            </a:pPr>
            <a:r>
              <a:t>"Canais com 1080p?"</a:t>
            </a:r>
          </a:p>
          <a:p>
            <a:pPr>
              <a:spcAft>
                <a:spcPts val="600"/>
              </a:spcAft>
              <a:defRPr sz="900">
                <a:solidFill>
                  <a:srgbClr val="BDBDBD"/>
                </a:solidFill>
              </a:defRPr>
            </a:pPr>
            <a:r>
              <a:t>"Erros críticos 24h?"</a:t>
            </a:r>
          </a:p>
          <a:p>
            <a:pPr>
              <a:spcAft>
                <a:spcPts val="600"/>
              </a:spcAft>
              <a:defRPr sz="900">
                <a:solidFill>
                  <a:srgbClr val="BDBDBD"/>
                </a:solidFill>
              </a:defRPr>
            </a:pPr>
            <a:r>
              <a:t>"Config do canal X?"</a:t>
            </a:r>
          </a:p>
          <a:p>
            <a:pPr>
              <a:spcAft>
                <a:spcPts val="600"/>
              </a:spcAft>
              <a:defRPr sz="900">
                <a:solidFill>
                  <a:srgbClr val="BDBDBD"/>
                </a:solidFill>
              </a:defRPr>
            </a:pPr>
            <a:r>
              <a:t>"Canais H.265?"</a:t>
            </a:r>
          </a:p>
          <a:p>
            <a:pPr>
              <a:spcAft>
                <a:spcPts val="600"/>
              </a:spcAft>
              <a:defRPr sz="900">
                <a:solidFill>
                  <a:srgbClr val="BDBDBD"/>
                </a:solidFill>
              </a:defRPr>
            </a:pPr>
            <a:r>
              <a:t>"Export CSV?"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41280" y="4572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Legenda: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241280" y="4892040"/>
            <a:ext cx="228600" cy="18288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561320" y="487375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DBDBD"/>
                </a:solidFill>
              </a:defRPr>
            </a:pPr>
            <a:r>
              <a:t>Apresentação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241280" y="5212080"/>
            <a:ext cx="228600" cy="18288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561320" y="519379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DBDBD"/>
                </a:solidFill>
              </a:defRPr>
            </a:pPr>
            <a:r>
              <a:t>Compute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241280" y="5532120"/>
            <a:ext cx="228600" cy="182880"/>
          </a:xfrm>
          <a:prstGeom prst="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61320" y="551383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DBDBD"/>
                </a:solidFill>
              </a:defRPr>
            </a:pPr>
            <a:r>
              <a:t>IA / Bedrock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241280" y="5852159"/>
            <a:ext cx="228600" cy="182880"/>
          </a:xfrm>
          <a:prstGeom prst="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561320" y="5833871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DBDBD"/>
                </a:solidFill>
              </a:defRPr>
            </a:pPr>
            <a:r>
              <a:t>Dados / S3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Diagrama de Fluxo — Criação Orquestrada de Canal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914400"/>
            <a:ext cx="1371600" cy="640080"/>
          </a:xfrm>
          <a:prstGeom prst="roundRect">
            <a:avLst/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Operador</a:t>
            </a:r>
            <a:br/>
            <a:r>
              <a:t>"Criar canal X"</a:t>
            </a:r>
          </a:p>
        </p:txBody>
      </p:sp>
      <p:sp>
        <p:nvSpPr>
          <p:cNvPr id="6" name="Rectangle 5"/>
          <p:cNvSpPr/>
          <p:nvPr/>
        </p:nvSpPr>
        <p:spPr>
          <a:xfrm>
            <a:off x="1645920" y="1188720"/>
            <a:ext cx="274320" cy="27432"/>
          </a:xfrm>
          <a:prstGeom prst="rect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Isosceles Triangle 6"/>
          <p:cNvSpPr/>
          <p:nvPr/>
        </p:nvSpPr>
        <p:spPr>
          <a:xfrm rot="5400000">
            <a:off x="1920240" y="1115568"/>
            <a:ext cx="137160" cy="182880"/>
          </a:xfrm>
          <a:prstGeom prst="triangle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011680" y="822960"/>
            <a:ext cx="2103120" cy="822960"/>
          </a:xfrm>
          <a:prstGeom prst="round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Bedrock Agent</a:t>
            </a:r>
            <a:br/>
            <a:r>
              <a:t>Coleta parâmetros</a:t>
            </a:r>
            <a:br/>
            <a:r>
              <a:t>conversacionalmente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0" y="1188720"/>
            <a:ext cx="274320" cy="27432"/>
          </a:xfrm>
          <a:prstGeom prst="rect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Isosceles Triangle 9"/>
          <p:cNvSpPr/>
          <p:nvPr/>
        </p:nvSpPr>
        <p:spPr>
          <a:xfrm rot="5400000">
            <a:off x="4389120" y="1115568"/>
            <a:ext cx="137160" cy="182880"/>
          </a:xfrm>
          <a:prstGeom prst="triangle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80560" y="822960"/>
            <a:ext cx="2103120" cy="822960"/>
          </a:xfrm>
          <a:prstGeom prst="round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Lambda</a:t>
            </a:r>
            <a:br/>
            <a:r>
              <a:t>Configuradora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2011680"/>
            <a:ext cx="914400" cy="64008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Etapa 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77440" y="2011680"/>
            <a:ext cx="4023360" cy="64008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BDBDBD"/>
                </a:solidFill>
              </a:defRPr>
            </a:pPr>
            <a:r>
              <a:t>Criar Canal MediaPackage V2 (Channel Group + Channel)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10512" y="2651760"/>
            <a:ext cx="27432" cy="2286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 rot="10800000">
            <a:off x="1737360" y="2880360"/>
            <a:ext cx="182880" cy="137160"/>
          </a:xfrm>
          <a:prstGeom prst="triangle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371600" y="3017520"/>
            <a:ext cx="914400" cy="640080"/>
          </a:xfrm>
          <a:prstGeom prst="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Etapa 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377440" y="3017520"/>
            <a:ext cx="4023360" cy="64008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BDBDBD"/>
                </a:solidFill>
              </a:defRPr>
            </a:pPr>
            <a:r>
              <a:t>Criar Endpoints HLS / DASH no MediaPackage V2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10512" y="3657600"/>
            <a:ext cx="27432" cy="228600"/>
          </a:xfrm>
          <a:prstGeom prst="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Isosceles Triangle 18"/>
          <p:cNvSpPr/>
          <p:nvPr/>
        </p:nvSpPr>
        <p:spPr>
          <a:xfrm rot="10800000">
            <a:off x="1737360" y="3886200"/>
            <a:ext cx="182880" cy="137160"/>
          </a:xfrm>
          <a:prstGeom prst="triangle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371600" y="4023360"/>
            <a:ext cx="914400" cy="64008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Etapa 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377440" y="4023360"/>
            <a:ext cx="4023360" cy="64008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BDBDBD"/>
                </a:solidFill>
              </a:defRPr>
            </a:pPr>
            <a:r>
              <a:t>Criar Inputs MediaLive (RTMP/RTP com Failover)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10512" y="4663440"/>
            <a:ext cx="27432" cy="2286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Isosceles Triangle 22"/>
          <p:cNvSpPr/>
          <p:nvPr/>
        </p:nvSpPr>
        <p:spPr>
          <a:xfrm rot="10800000">
            <a:off x="1737360" y="4892040"/>
            <a:ext cx="182880" cy="137160"/>
          </a:xfrm>
          <a:prstGeom prst="triangle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371600" y="5029200"/>
            <a:ext cx="914400" cy="640080"/>
          </a:xfrm>
          <a:prstGeom prst="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Etapa 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377440" y="5029200"/>
            <a:ext cx="4023360" cy="64008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BDBDBD"/>
                </a:solidFill>
              </a:defRPr>
            </a:pPr>
            <a:r>
              <a:t>Criar Canal MediaLive (vincula inputs + endpoints)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71600" y="6035040"/>
            <a:ext cx="5029200" cy="548640"/>
          </a:xfrm>
          <a:prstGeom prst="round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✅  Canal Criado com Sucesso!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0" y="1828800"/>
            <a:ext cx="4389120" cy="2743200"/>
          </a:xfrm>
          <a:prstGeom prst="roundRect">
            <a:avLst/>
          </a:prstGeom>
          <a:solidFill>
            <a:srgbClr val="4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15200" y="1828800"/>
            <a:ext cx="4389120" cy="457200"/>
          </a:xfrm>
          <a:prstGeom prst="rect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🔄  ROLLBACK AUTOMÁTICO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0" y="2377440"/>
            <a:ext cx="4023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BDBDBD"/>
                </a:solidFill>
              </a:defRPr>
            </a:pPr>
            <a:r>
              <a:t>• Falha em qualquer etapa aciona rollback</a:t>
            </a:r>
          </a:p>
          <a:p>
            <a:pPr>
              <a:spcAft>
                <a:spcPts val="600"/>
              </a:spcAft>
              <a:defRPr sz="1200">
                <a:solidFill>
                  <a:srgbClr val="BDBDBD"/>
                </a:solidFill>
              </a:defRPr>
            </a:pPr>
            <a:r>
              <a:t>• Desfaz etapas anteriores em ordem reversa</a:t>
            </a:r>
          </a:p>
          <a:p>
            <a:pPr>
              <a:spcAft>
                <a:spcPts val="600"/>
              </a:spcAft>
              <a:defRPr sz="1200">
                <a:solidFill>
                  <a:srgbClr val="BDBDBD"/>
                </a:solidFill>
              </a:defRPr>
            </a:pPr>
            <a:r>
              <a:t>• Registro completo no S3_Audit</a:t>
            </a:r>
          </a:p>
          <a:p>
            <a:pPr>
              <a:spcAft>
                <a:spcPts val="600"/>
              </a:spcAft>
              <a:defRPr sz="1200">
                <a:solidFill>
                  <a:srgbClr val="BDBDBD"/>
                </a:solidFill>
              </a:defRPr>
            </a:pPr>
            <a:r>
              <a:t>• Operador recebe mensagem detalhada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292608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EF5350"/>
                </a:solidFill>
              </a:defRPr>
            </a:pPr>
            <a:r>
              <a:t>falha 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0" y="4846320"/>
            <a:ext cx="4389120" cy="182880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15200" y="4846320"/>
            <a:ext cx="4389120" cy="36576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Parâmetros Coletados via Chat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80" y="5303520"/>
            <a:ext cx="4023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BDBDBD"/>
                </a:solidFill>
              </a:defRPr>
            </a:pPr>
            <a:r>
              <a:t>• Nome do canal</a:t>
            </a:r>
          </a:p>
          <a:p>
            <a:pPr>
              <a:spcAft>
                <a:spcPts val="600"/>
              </a:spcAft>
              <a:defRPr sz="1100">
                <a:solidFill>
                  <a:srgbClr val="BDBDBD"/>
                </a:solidFill>
              </a:defRPr>
            </a:pPr>
            <a:r>
              <a:t>• Codec (H.264 / H.265)</a:t>
            </a:r>
          </a:p>
          <a:p>
            <a:pPr>
              <a:spcAft>
                <a:spcPts val="600"/>
              </a:spcAft>
              <a:defRPr sz="1100">
                <a:solidFill>
                  <a:srgbClr val="BDBDBD"/>
                </a:solidFill>
              </a:defRPr>
            </a:pPr>
            <a:r>
              <a:t>• Resolução (1080p / 720p)</a:t>
            </a:r>
          </a:p>
          <a:p>
            <a:pPr>
              <a:spcAft>
                <a:spcPts val="600"/>
              </a:spcAft>
              <a:defRPr sz="1100">
                <a:solidFill>
                  <a:srgbClr val="BDBDBD"/>
                </a:solidFill>
              </a:defRPr>
            </a:pPr>
            <a:r>
              <a:t>• Bitrate / Tipo input (RTMP/RTP)</a:t>
            </a:r>
          </a:p>
          <a:p>
            <a:pPr>
              <a:spcAft>
                <a:spcPts val="600"/>
              </a:spcAft>
              <a:defRPr sz="1100">
                <a:solidFill>
                  <a:srgbClr val="BDBDBD"/>
                </a:solidFill>
              </a:defRPr>
            </a:pPr>
            <a:r>
              <a:t>• Failover automático (sim/não)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DD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Diagrama de Fluxo — Pipelines de Ingestão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31520"/>
            <a:ext cx="5669280" cy="411480"/>
          </a:xfrm>
          <a:prstGeom prst="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Pipeline de Configurações (a cada 6h)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1463040" cy="594360"/>
          </a:xfrm>
          <a:prstGeom prst="roundRect">
            <a:avLst/>
          </a:prstGeom>
          <a:solidFill>
            <a:srgbClr val="880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EventBridge</a:t>
            </a:r>
            <a:br/>
            <a:r>
              <a:t>Scheduler (6h)</a:t>
            </a:r>
          </a:p>
        </p:txBody>
      </p:sp>
      <p:sp>
        <p:nvSpPr>
          <p:cNvPr id="7" name="Rectangle 6"/>
          <p:cNvSpPr/>
          <p:nvPr/>
        </p:nvSpPr>
        <p:spPr>
          <a:xfrm>
            <a:off x="1920240" y="1645920"/>
            <a:ext cx="274320" cy="27432"/>
          </a:xfrm>
          <a:prstGeom prst="rect">
            <a:avLst/>
          </a:prstGeom>
          <a:solidFill>
            <a:srgbClr val="FDD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Isosceles Triangle 7"/>
          <p:cNvSpPr/>
          <p:nvPr/>
        </p:nvSpPr>
        <p:spPr>
          <a:xfrm rot="5400000">
            <a:off x="2194560" y="1572768"/>
            <a:ext cx="137160" cy="182880"/>
          </a:xfrm>
          <a:prstGeom prst="triangle">
            <a:avLst/>
          </a:prstGeom>
          <a:solidFill>
            <a:srgbClr val="FDD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286000" y="1371600"/>
            <a:ext cx="1463040" cy="594360"/>
          </a:xfrm>
          <a:prstGeom prst="round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Pipeline_Config</a:t>
            </a:r>
            <a:br/>
            <a:r>
              <a:t>Lambda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49039" y="1645920"/>
            <a:ext cx="274320" cy="27432"/>
          </a:xfrm>
          <a:prstGeom prst="rect">
            <a:avLst/>
          </a:prstGeom>
          <a:solidFill>
            <a:srgbClr val="FDD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Isosceles Triangle 10"/>
          <p:cNvSpPr/>
          <p:nvPr/>
        </p:nvSpPr>
        <p:spPr>
          <a:xfrm rot="5400000">
            <a:off x="4023359" y="1572768"/>
            <a:ext cx="137160" cy="182880"/>
          </a:xfrm>
          <a:prstGeom prst="triangle">
            <a:avLst/>
          </a:prstGeom>
          <a:solidFill>
            <a:srgbClr val="FDD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114800" y="1371600"/>
            <a:ext cx="1645920" cy="594360"/>
          </a:xfrm>
          <a:prstGeom prst="roundRect">
            <a:avLst/>
          </a:prstGeom>
          <a:solidFill>
            <a:srgbClr val="4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APIs AWS</a:t>
            </a:r>
            <a:br/>
            <a:r>
              <a:t>(4 serviços)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286000"/>
            <a:ext cx="1280160" cy="36576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EF5350"/>
                </a:solidFill>
              </a:defRPr>
            </a:pPr>
            <a:r>
              <a:t>MediaLive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74520" y="2286000"/>
            <a:ext cx="1280160" cy="36576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EF5350"/>
                </a:solidFill>
              </a:defRPr>
            </a:pPr>
            <a:r>
              <a:t>MediaPackage V2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91840" y="2286000"/>
            <a:ext cx="1280160" cy="36576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EF5350"/>
                </a:solidFill>
              </a:defRPr>
            </a:pPr>
            <a:r>
              <a:t>MediaTailor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09160" y="2286000"/>
            <a:ext cx="1280160" cy="36576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EF5350"/>
                </a:solidFill>
              </a:defRPr>
            </a:pPr>
            <a:r>
              <a:t>CloudFront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17520" y="2651760"/>
            <a:ext cx="27432" cy="182880"/>
          </a:xfrm>
          <a:prstGeom prst="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Isosceles Triangle 17"/>
          <p:cNvSpPr/>
          <p:nvPr/>
        </p:nvSpPr>
        <p:spPr>
          <a:xfrm rot="10800000">
            <a:off x="2944368" y="2834640"/>
            <a:ext cx="182880" cy="137160"/>
          </a:xfrm>
          <a:prstGeom prst="triangle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57200" y="3017520"/>
            <a:ext cx="1737360" cy="36576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66BB6A"/>
                </a:solidFill>
              </a:defRPr>
            </a:pPr>
            <a:r>
              <a:t>Normaliza JSON flat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377440" y="3017520"/>
            <a:ext cx="1737360" cy="36576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66BB6A"/>
                </a:solidFill>
              </a:defRPr>
            </a:pPr>
            <a:r>
              <a:t>Valida campos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7680" y="3017520"/>
            <a:ext cx="1737360" cy="36576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66BB6A"/>
                </a:solidFill>
              </a:defRPr>
            </a:pPr>
            <a:r>
              <a:t>Remove duplicatas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017520" y="3383280"/>
            <a:ext cx="27432" cy="182880"/>
          </a:xfrm>
          <a:prstGeom prst="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Isosceles Triangle 22"/>
          <p:cNvSpPr/>
          <p:nvPr/>
        </p:nvSpPr>
        <p:spPr>
          <a:xfrm rot="10800000">
            <a:off x="2944368" y="3566160"/>
            <a:ext cx="182880" cy="137160"/>
          </a:xfrm>
          <a:prstGeom prst="triangle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371600" y="3749039"/>
            <a:ext cx="3200400" cy="457200"/>
          </a:xfrm>
          <a:prstGeom prst="round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S3_KBConfig (~220 configs JSON flat)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731520"/>
            <a:ext cx="5669280" cy="41148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Pipeline de Métricas CloudWatch (a cada 1h)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1371600"/>
            <a:ext cx="1463040" cy="594360"/>
          </a:xfrm>
          <a:prstGeom prst="roundRect">
            <a:avLst/>
          </a:prstGeom>
          <a:solidFill>
            <a:srgbClr val="880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EventBridge</a:t>
            </a:r>
            <a:br/>
            <a:r>
              <a:t>Scheduler (1h)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863840" y="1645920"/>
            <a:ext cx="274320" cy="27432"/>
          </a:xfrm>
          <a:prstGeom prst="rect">
            <a:avLst/>
          </a:prstGeom>
          <a:solidFill>
            <a:srgbClr val="FDD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Isosceles Triangle 27"/>
          <p:cNvSpPr/>
          <p:nvPr/>
        </p:nvSpPr>
        <p:spPr>
          <a:xfrm rot="5400000">
            <a:off x="8138160" y="1572768"/>
            <a:ext cx="137160" cy="182880"/>
          </a:xfrm>
          <a:prstGeom prst="triangle">
            <a:avLst/>
          </a:prstGeom>
          <a:solidFill>
            <a:srgbClr val="FDD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229600" y="1371600"/>
            <a:ext cx="1463040" cy="594360"/>
          </a:xfrm>
          <a:prstGeom prst="round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Pipeline_Logs</a:t>
            </a:r>
            <a:br/>
            <a:r>
              <a:t>Lambda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692640" y="1645920"/>
            <a:ext cx="274320" cy="27432"/>
          </a:xfrm>
          <a:prstGeom prst="rect">
            <a:avLst/>
          </a:prstGeom>
          <a:solidFill>
            <a:srgbClr val="FDD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Isosceles Triangle 30"/>
          <p:cNvSpPr/>
          <p:nvPr/>
        </p:nvSpPr>
        <p:spPr>
          <a:xfrm rot="5400000">
            <a:off x="9966960" y="1572768"/>
            <a:ext cx="137160" cy="182880"/>
          </a:xfrm>
          <a:prstGeom prst="triangle">
            <a:avLst/>
          </a:prstGeom>
          <a:solidFill>
            <a:srgbClr val="FDD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0058400" y="1371600"/>
            <a:ext cx="1645920" cy="594360"/>
          </a:xfrm>
          <a:prstGeom prst="roundRect">
            <a:avLst/>
          </a:prstGeom>
          <a:solidFill>
            <a:srgbClr val="880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CloudWatch</a:t>
            </a:r>
            <a:br/>
            <a:r>
              <a:t>Metrics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961120" y="1965960"/>
            <a:ext cx="27432" cy="18288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Isosceles Triangle 33"/>
          <p:cNvSpPr/>
          <p:nvPr/>
        </p:nvSpPr>
        <p:spPr>
          <a:xfrm rot="10800000">
            <a:off x="8887968" y="2148840"/>
            <a:ext cx="182880" cy="137160"/>
          </a:xfrm>
          <a:prstGeom prst="triangle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400800" y="2286000"/>
            <a:ext cx="1280160" cy="365760"/>
          </a:xfrm>
          <a:prstGeom prst="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000" b="1">
                <a:solidFill>
                  <a:srgbClr val="212121"/>
                </a:solidFill>
              </a:defRPr>
            </a:pPr>
            <a:r>
              <a:t>INFO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818120" y="2286000"/>
            <a:ext cx="1280160" cy="365760"/>
          </a:xfrm>
          <a:prstGeom prst="rect">
            <a:avLst/>
          </a:prstGeom>
          <a:solidFill>
            <a:srgbClr val="FDD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000" b="1">
                <a:solidFill>
                  <a:srgbClr val="212121"/>
                </a:solidFill>
              </a:defRPr>
            </a:pPr>
            <a:r>
              <a:t>WARNING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235440" y="2286000"/>
            <a:ext cx="1280160" cy="36576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ERROR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652760" y="2286000"/>
            <a:ext cx="1280160" cy="365760"/>
          </a:xfrm>
          <a:prstGeom prst="rect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CRITICAL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961120" y="2651760"/>
            <a:ext cx="27432" cy="18288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Isosceles Triangle 39"/>
          <p:cNvSpPr/>
          <p:nvPr/>
        </p:nvSpPr>
        <p:spPr>
          <a:xfrm rot="10800000">
            <a:off x="8887968" y="2834640"/>
            <a:ext cx="182880" cy="137160"/>
          </a:xfrm>
          <a:prstGeom prst="triangle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583680" y="3017520"/>
            <a:ext cx="5029200" cy="109728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766560" y="3063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9800"/>
                </a:solidFill>
              </a:defRPr>
            </a:pPr>
            <a:r>
              <a:t>Evento_Estruturado: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66560" y="333756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BDBDBD"/>
                </a:solidFill>
              </a:defRPr>
            </a:pPr>
            <a:r>
              <a:t>timestamp | canal | severidade | tipo_erro</a:t>
            </a:r>
          </a:p>
          <a:p>
            <a:pPr>
              <a:spcAft>
                <a:spcPts val="600"/>
              </a:spcAft>
              <a:defRPr sz="1000">
                <a:solidFill>
                  <a:srgbClr val="BDBDBD"/>
                </a:solidFill>
              </a:defRPr>
            </a:pPr>
            <a:r>
              <a:t>descricao | causa_provavel</a:t>
            </a:r>
          </a:p>
          <a:p>
            <a:pPr>
              <a:spcAft>
                <a:spcPts val="600"/>
              </a:spcAft>
              <a:defRPr sz="1000">
                <a:solidFill>
                  <a:srgbClr val="BDBDBD"/>
                </a:solidFill>
              </a:defRPr>
            </a:pPr>
            <a:r>
              <a:t>recomendacao_correcao | servico_origem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961120" y="4114800"/>
            <a:ext cx="27432" cy="182880"/>
          </a:xfrm>
          <a:prstGeom prst="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Isosceles Triangle 44"/>
          <p:cNvSpPr/>
          <p:nvPr/>
        </p:nvSpPr>
        <p:spPr>
          <a:xfrm rot="10800000">
            <a:off x="8887968" y="4297680"/>
            <a:ext cx="182880" cy="137160"/>
          </a:xfrm>
          <a:prstGeom prst="triangle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7132320" y="4480560"/>
            <a:ext cx="3657600" cy="457200"/>
          </a:xfrm>
          <a:prstGeom prst="round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S3_KBLogs (Eventos Estruturados)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53035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DBDBD"/>
                </a:solidFill>
              </a:defRPr>
            </a:pPr>
            <a:r>
              <a:t>Ambos os pipelines alimentam as Knowledge Bases do Bedrock Agent, permitindo consultas RAG sobre dados atualizados.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Diagrama Multi-Região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22960"/>
            <a:ext cx="5303520" cy="5669280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822960"/>
            <a:ext cx="5303520" cy="4572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us-east-1  (API / IA / Auth)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2286000" cy="384048"/>
          </a:xfrm>
          <a:prstGeom prst="roundRect">
            <a:avLst/>
          </a:prstGeom>
          <a:solidFill>
            <a:srgbClr val="880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Amazon Cognito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15087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DBDBD"/>
                </a:solidFill>
              </a:defRPr>
            </a:pPr>
            <a:r>
              <a:t>User Pool, JWT Auth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938528"/>
            <a:ext cx="2286000" cy="384048"/>
          </a:xfrm>
          <a:prstGeom prst="round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API Gateway REST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198424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DBDBD"/>
                </a:solidFill>
              </a:defRPr>
            </a:pPr>
            <a:r>
              <a:t>Endpoints REST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414016"/>
            <a:ext cx="2286000" cy="384048"/>
          </a:xfrm>
          <a:prstGeom prst="round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Lambda Function URL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245973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DBDBD"/>
                </a:solidFill>
              </a:defRPr>
            </a:pPr>
            <a:r>
              <a:t>Streaming, 5min timeout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889504"/>
            <a:ext cx="2286000" cy="384048"/>
          </a:xfrm>
          <a:prstGeom prst="round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Lambda Orquestradora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293522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DBDBD"/>
                </a:solidFill>
              </a:defRPr>
            </a:pPr>
            <a:r>
              <a:t>Entry point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364992"/>
            <a:ext cx="2286000" cy="384048"/>
          </a:xfrm>
          <a:prstGeom prst="round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Bedrock Agent (Claude)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341071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DBDBD"/>
                </a:solidFill>
              </a:defRPr>
            </a:pPr>
            <a:r>
              <a:t>RAG, PT-BR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840480"/>
            <a:ext cx="2286000" cy="384048"/>
          </a:xfrm>
          <a:prstGeom prst="round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Knowledge Bases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886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DBDBD"/>
                </a:solidFill>
              </a:defRPr>
            </a:pPr>
            <a:r>
              <a:t>KB_CONFIG + KB_LOGS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315968"/>
            <a:ext cx="2286000" cy="384048"/>
          </a:xfrm>
          <a:prstGeom prst="round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Lambda Configuradora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436168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DBDBD"/>
                </a:solidFill>
              </a:defRPr>
            </a:pPr>
            <a:r>
              <a:t>Cria canais + rollback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791456"/>
            <a:ext cx="2286000" cy="384048"/>
          </a:xfrm>
          <a:prstGeom prst="round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Lambda Exportadora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483717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DBDBD"/>
                </a:solidFill>
              </a:defRPr>
            </a:pPr>
            <a:r>
              <a:t>CSV/JSON exports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266944"/>
            <a:ext cx="2286000" cy="384048"/>
          </a:xfrm>
          <a:prstGeom prst="round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S3 Buckets (5)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08960" y="531266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DBDBD"/>
                </a:solidFill>
              </a:defRPr>
            </a:pPr>
            <a:r>
              <a:t>Config, Logs, Audit, Exports, FE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742432"/>
            <a:ext cx="2286000" cy="384048"/>
          </a:xfrm>
          <a:prstGeom prst="roundRect">
            <a:avLst/>
          </a:prstGeom>
          <a:solidFill>
            <a:srgbClr val="880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EventBridge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578815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DBDBD"/>
                </a:solidFill>
              </a:defRPr>
            </a:pPr>
            <a:r>
              <a:t>Schedulers (1h + 6h)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822960"/>
            <a:ext cx="5303520" cy="5669280"/>
          </a:xfrm>
          <a:prstGeom prst="rect">
            <a:avLst/>
          </a:prstGeom>
          <a:solidFill>
            <a:srgbClr val="4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0" y="822960"/>
            <a:ext cx="5303520" cy="457200"/>
          </a:xfrm>
          <a:prstGeom prst="rect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sa-east-1  (Streaming Services)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75120" y="1554480"/>
            <a:ext cx="2286000" cy="777240"/>
          </a:xfrm>
          <a:prstGeom prst="round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AWS MediaLive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164592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DBDBD"/>
                </a:solidFill>
              </a:defRPr>
            </a:pPr>
            <a:r>
              <a:t>Canais live, inputs RTMP/RTP</a:t>
            </a:r>
            <a:br/>
            <a:r>
              <a:t>Failover automático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675120" y="2514600"/>
            <a:ext cx="2286000" cy="777240"/>
          </a:xfrm>
          <a:prstGeom prst="round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AWS MediaPackage V2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60604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DBDBD"/>
                </a:solidFill>
              </a:defRPr>
            </a:pPr>
            <a:r>
              <a:t>Channel Groups, Channels</a:t>
            </a:r>
            <a:br/>
            <a:r>
              <a:t>Endpoints HLS/DASH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675120" y="3474720"/>
            <a:ext cx="2286000" cy="777240"/>
          </a:xfrm>
          <a:prstGeom prst="round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AWS MediaTailor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356616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DBDBD"/>
                </a:solidFill>
              </a:defRPr>
            </a:pPr>
            <a:r>
              <a:t>Ad insertion</a:t>
            </a:r>
            <a:br/>
            <a:r>
              <a:t>Personalização de conteúdo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675120" y="4434840"/>
            <a:ext cx="2286000" cy="777240"/>
          </a:xfrm>
          <a:prstGeom prst="round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Amazon CloudFront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45262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DBDBD"/>
                </a:solidFill>
              </a:defRPr>
            </a:pPr>
            <a:r>
              <a:t>Distribuições CDN</a:t>
            </a:r>
            <a:br/>
            <a:r>
              <a:t>Entrega de conteúdo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675120" y="5394960"/>
            <a:ext cx="2286000" cy="777240"/>
          </a:xfrm>
          <a:prstGeom prst="roundRect">
            <a:avLst/>
          </a:prstGeom>
          <a:solidFill>
            <a:srgbClr val="880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Amazon CloudWatch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548640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DBDBD"/>
                </a:solidFill>
              </a:defRPr>
            </a:pPr>
            <a:r>
              <a:t>Métricas de saúde</a:t>
            </a:r>
            <a:br/>
            <a:r>
              <a:t>dos 4 serviços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760720" y="3200400"/>
            <a:ext cx="640080" cy="36576"/>
          </a:xfrm>
          <a:prstGeom prst="rect">
            <a:avLst/>
          </a:prstGeom>
          <a:solidFill>
            <a:srgbClr val="FDD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760720" y="3383280"/>
            <a:ext cx="640080" cy="36576"/>
          </a:xfrm>
          <a:prstGeom prst="rect">
            <a:avLst/>
          </a:prstGeom>
          <a:solidFill>
            <a:srgbClr val="FDD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623560" y="28346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DD835"/>
                </a:solidFill>
              </a:defRPr>
            </a:pPr>
            <a:r>
              <a:t>APIs +</a:t>
            </a:r>
            <a:br/>
            <a:r>
              <a:t>Métricas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Stack Tecnológica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029200" cy="68580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2344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B47BC"/>
                </a:solidFill>
              </a:defRPr>
            </a:pPr>
            <a:r>
              <a:t>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53619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DBDBD"/>
                </a:solidFill>
              </a:defRPr>
            </a:pPr>
            <a:r>
              <a:t>HTML/JS, Amazon S3, CloudFront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57400"/>
            <a:ext cx="5029200" cy="68580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1031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B47BC"/>
                </a:solidFill>
              </a:defRPr>
            </a:pPr>
            <a:r>
              <a:t>Autenticação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0487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DBDBD"/>
                </a:solidFill>
              </a:defRPr>
            </a:pPr>
            <a:r>
              <a:t>Amazon Cognito (User Pool, admin-only)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926080"/>
            <a:ext cx="5029200" cy="68580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971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B47BC"/>
                </a:solidFill>
              </a:defRPr>
            </a:pPr>
            <a:r>
              <a:t>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27355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DBDBD"/>
                </a:solidFill>
              </a:defRPr>
            </a:pPr>
            <a:r>
              <a:t>API Gateway REST + Lambda Function URL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794759"/>
            <a:ext cx="5029200" cy="68580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840479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B47BC"/>
                </a:solidFill>
              </a:defRPr>
            </a:pPr>
            <a:r>
              <a:t>IA / ML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142231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DBDBD"/>
                </a:solidFill>
              </a:defRPr>
            </a:pPr>
            <a:r>
              <a:t>Amazon Bedrock (Claude), RAG com Knowledge Bases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663440"/>
            <a:ext cx="5029200" cy="68580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7091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B47BC"/>
                </a:solidFill>
              </a:defRPr>
            </a:pPr>
            <a:r>
              <a:t>Compute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01091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DBDBD"/>
                </a:solidFill>
              </a:defRPr>
            </a:pPr>
            <a:r>
              <a:t>AWS Lambda (Python 3.9+)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532120"/>
            <a:ext cx="5029200" cy="68580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5778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B47BC"/>
                </a:solidFill>
              </a:defRPr>
            </a:pPr>
            <a:r>
              <a:t>Armazenamento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87959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DBDBD"/>
                </a:solidFill>
              </a:defRPr>
            </a:pPr>
            <a:r>
              <a:t>Amazon S3 (5 buckets com lifecycle policies)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1188720"/>
            <a:ext cx="5029200" cy="68580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0" y="12344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B47BC"/>
                </a:solidFill>
              </a:defRPr>
            </a:pPr>
            <a:r>
              <a:t>Streaming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153619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DBDBD"/>
                </a:solidFill>
              </a:defRPr>
            </a:pPr>
            <a:r>
              <a:t>MediaLive, MediaPackage V2, MediaTailor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2057400"/>
            <a:ext cx="5029200" cy="68580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21031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B47BC"/>
                </a:solidFill>
              </a:defRPr>
            </a:pPr>
            <a:r>
              <a:t>CDN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240487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DBDBD"/>
                </a:solidFill>
              </a:defRPr>
            </a:pPr>
            <a:r>
              <a:t>Amazon CloudFront (distribuições)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2926080"/>
            <a:ext cx="5029200" cy="68580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0" y="2971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B47BC"/>
                </a:solidFill>
              </a:defRPr>
            </a:pPr>
            <a:r>
              <a:t>Orquestração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327355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DBDBD"/>
                </a:solidFill>
              </a:defRPr>
            </a:pPr>
            <a:r>
              <a:t>Amazon EventBridge Scheduler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3794759"/>
            <a:ext cx="5029200" cy="68580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0" y="3840479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B47BC"/>
                </a:solidFill>
              </a:defRPr>
            </a:pPr>
            <a:r>
              <a:t>IaC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4142231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DBDBD"/>
                </a:solidFill>
              </a:defRPr>
            </a:pPr>
            <a:r>
              <a:t>AWS CDK (Python) — 9 stacks modulares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0" y="4663440"/>
            <a:ext cx="5029200" cy="68580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0" y="47091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B47BC"/>
                </a:solidFill>
              </a:defRPr>
            </a:pPr>
            <a:r>
              <a:t>Monitoramento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0" y="501091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DBDBD"/>
                </a:solidFill>
              </a:defRPr>
            </a:pPr>
            <a:r>
              <a:t>Amazon CloudWatch Metrics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Funcionalidade 1: Chatbot com RAG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486400" cy="502920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FC3F7"/>
                </a:solidFill>
              </a:defRPr>
            </a:pPr>
            <a:r>
              <a:t>Como funciona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92024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BDBDBD"/>
                </a:solidFill>
              </a:defRPr>
            </a:pPr>
            <a:r>
              <a:t>• Operador faz perguntas em linguagem natural (PT-BR)</a:t>
            </a:r>
          </a:p>
          <a:p>
            <a:pPr>
              <a:spcAft>
                <a:spcPts val="600"/>
              </a:spcAft>
              <a:defRPr sz="1400">
                <a:solidFill>
                  <a:srgbClr val="BDBDBD"/>
                </a:solidFill>
              </a:defRPr>
            </a:pPr>
            <a:r>
              <a:t>• Bedrock Agent consulta 2 Knowledge Bases via RAG</a:t>
            </a:r>
          </a:p>
          <a:p>
            <a:pPr>
              <a:spcAft>
                <a:spcPts val="600"/>
              </a:spcAft>
              <a:defRPr sz="1400">
                <a:solidFill>
                  <a:srgbClr val="BDBDBD"/>
                </a:solidFill>
              </a:defRPr>
            </a:pPr>
            <a:r>
              <a:t>• KB_CONFIG: ~220 configurações de canais (JSON flat)</a:t>
            </a:r>
          </a:p>
          <a:p>
            <a:pPr>
              <a:spcAft>
                <a:spcPts val="600"/>
              </a:spcAft>
              <a:defRPr sz="1400">
                <a:solidFill>
                  <a:srgbClr val="BDBDBD"/>
                </a:solidFill>
              </a:defRPr>
            </a:pPr>
            <a:r>
              <a:t>• KB_LOGS: Eventos estruturados de métricas CloudWatch</a:t>
            </a:r>
          </a:p>
          <a:p>
            <a:pPr>
              <a:spcAft>
                <a:spcPts val="600"/>
              </a:spcAft>
              <a:defRPr sz="1400">
                <a:solidFill>
                  <a:srgbClr val="BDBDBD"/>
                </a:solidFill>
              </a:defRPr>
            </a:pPr>
            <a:r>
              <a:t>• 45+ sugestões categorizadas na sidebar</a:t>
            </a:r>
          </a:p>
          <a:p>
            <a:pPr>
              <a:spcAft>
                <a:spcPts val="600"/>
              </a:spcAft>
              <a:defRPr sz="1400">
                <a:solidFill>
                  <a:srgbClr val="BDBDBD"/>
                </a:solidFill>
              </a:defRPr>
            </a:pPr>
            <a:r>
              <a:t>• Categorias: MediaLive, MediaPackage, MediaTailor,</a:t>
            </a:r>
          </a:p>
          <a:p>
            <a:pPr>
              <a:spcAft>
                <a:spcPts val="600"/>
              </a:spcAft>
              <a:defRPr sz="1400">
                <a:solidFill>
                  <a:srgbClr val="BDBDBD"/>
                </a:solidFill>
              </a:defRPr>
            </a:pPr>
            <a:r>
              <a:t>  CloudFront, Exportações, Criação, Conceitos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1188720"/>
            <a:ext cx="5029200" cy="502920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6BB6A"/>
                </a:solidFill>
              </a:defRPr>
            </a:pPr>
            <a:r>
              <a:t>Exemplos de perguntas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92024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BDBDBD"/>
                </a:solidFill>
              </a:defRPr>
            </a:pPr>
            <a:r>
              <a:t>"Quais canais estão com resolução 1080p?"</a:t>
            </a:r>
          </a:p>
          <a:p>
            <a:pPr>
              <a:spcAft>
                <a:spcPts val="600"/>
              </a:spcAft>
              <a:defRPr sz="1400">
                <a:solidFill>
                  <a:srgbClr val="BDBDBD"/>
                </a:solidFill>
              </a:defRPr>
            </a:pPr>
            <a:r>
              <a:t>"Mostre os erros críticos das últimas 24h"</a:t>
            </a:r>
          </a:p>
          <a:p>
            <a:pPr>
              <a:spcAft>
                <a:spcPts val="600"/>
              </a:spcAft>
              <a:defRPr sz="1400">
                <a:solidFill>
                  <a:srgbClr val="BDBDBD"/>
                </a:solidFill>
              </a:defRPr>
            </a:pPr>
            <a:r>
              <a:t>"Qual a configuração do canal X?"</a:t>
            </a:r>
          </a:p>
          <a:p>
            <a:pPr>
              <a:spcAft>
                <a:spcPts val="600"/>
              </a:spcAft>
              <a:defRPr sz="1400">
                <a:solidFill>
                  <a:srgbClr val="BDBDBD"/>
                </a:solidFill>
              </a:defRPr>
            </a:pPr>
            <a:r>
              <a:t>"Quais canais usam codec H.265?"</a:t>
            </a:r>
          </a:p>
          <a:p>
            <a:pPr>
              <a:spcAft>
                <a:spcPts val="600"/>
              </a:spcAft>
              <a:defRPr sz="1400">
                <a:solidFill>
                  <a:srgbClr val="BDBDBD"/>
                </a:solidFill>
              </a:defRPr>
            </a:pPr>
            <a:r>
              <a:t>"Exporte todos os canais MediaLive em CSV"</a:t>
            </a:r>
          </a:p>
          <a:p>
            <a:pPr>
              <a:spcAft>
                <a:spcPts val="600"/>
              </a:spcAft>
              <a:defRPr sz="1400">
                <a:solidFill>
                  <a:srgbClr val="BDBDBD"/>
                </a:solidFill>
              </a:defRPr>
            </a:pPr>
            <a:r>
              <a:t>"Quais canais têm failover ativo?"</a:t>
            </a:r>
          </a:p>
          <a:p>
            <a:pPr>
              <a:spcAft>
                <a:spcPts val="600"/>
              </a:spcAft>
              <a:defRPr sz="1400">
                <a:solidFill>
                  <a:srgbClr val="BDBDBD"/>
                </a:solidFill>
              </a:defRPr>
            </a:pPr>
            <a:r>
              <a:t>"Resuma os problemas do canal Y"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Fluxos de Dados Principais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11247120" cy="155448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73152" cy="155448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FC3F7"/>
                </a:solidFill>
              </a:defRPr>
            </a:pPr>
            <a:r>
              <a:t>1. Fluxo de Consulta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7373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DBDBD"/>
                </a:solidFill>
              </a:defRPr>
            </a:pPr>
            <a:r>
              <a:t>Usuário  →  Frontend (CloudFront + S3)  →  Lambda Function URL (5min)  →  Bedrock Agent (Claude)  →  Knowledge Bases (RAG)  →  Resposta PT-BR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017520"/>
            <a:ext cx="11247120" cy="155448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3017520"/>
            <a:ext cx="73152" cy="1554480"/>
          </a:xfrm>
          <a:prstGeom prst="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1089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6BB6A"/>
                </a:solidFill>
              </a:defRPr>
            </a:pPr>
            <a:r>
              <a:t>2. Fluxo de Exportação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5661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DBDBD"/>
                </a:solidFill>
              </a:defRPr>
            </a:pPr>
            <a:r>
              <a:t>Usuário pede export  →  Bypass direto (sem Bedrock)  →  Lambda Exportadora  →  Leitura paralela S3  →  CSV/JSON  →  URL pré-assinada (24h)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846320"/>
            <a:ext cx="11247120" cy="155448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4846320"/>
            <a:ext cx="73152" cy="155448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9377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9800"/>
                </a:solidFill>
              </a:defRPr>
            </a:pPr>
            <a:r>
              <a:t>3. Fluxo de Criação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3949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DBDBD"/>
                </a:solidFill>
              </a:defRPr>
            </a:pPr>
            <a:r>
              <a:t>Usuário pede canal  →  Bedrock coleta parâmetros  →  Lambda Configuradora  →  4 etapas orquestradas  →  Rollback automático se falha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Infraestrutura como Código — AWS CDK (Python)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303520" cy="82296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188720"/>
            <a:ext cx="73152" cy="82296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2344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9800"/>
                </a:solidFill>
              </a:defRPr>
            </a:pPr>
            <a:r>
              <a:t>main_stack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6002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DBDBD"/>
                </a:solidFill>
              </a:defRPr>
            </a:pPr>
            <a:r>
              <a:t>Orquestração geral de todas as stacks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194560"/>
            <a:ext cx="5303520" cy="82296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194560"/>
            <a:ext cx="73152" cy="82296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2402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9800"/>
                </a:solidFill>
              </a:defRPr>
            </a:pPr>
            <a:r>
              <a:t>api_stack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6060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DBDBD"/>
                </a:solidFill>
              </a:defRPr>
            </a:pPr>
            <a:r>
              <a:t>API Gateway REST + Lambda Orquestradora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200400"/>
            <a:ext cx="5303520" cy="82296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200400"/>
            <a:ext cx="73152" cy="82296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2461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9800"/>
                </a:solidFill>
              </a:defRPr>
            </a:pPr>
            <a:r>
              <a:t>bedrock_agent_stack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6118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DBDBD"/>
                </a:solidFill>
              </a:defRPr>
            </a:pPr>
            <a:r>
              <a:t>Bedrock Agent + instruções em PT-BR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206240"/>
            <a:ext cx="5303520" cy="82296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4206240"/>
            <a:ext cx="73152" cy="82296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42519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9800"/>
                </a:solidFill>
              </a:defRPr>
            </a:pPr>
            <a:r>
              <a:t>bedrock_kb_stack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6177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DBDBD"/>
                </a:solidFill>
              </a:defRPr>
            </a:pPr>
            <a:r>
              <a:t>Knowledge Bases (Config + Logs)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212080"/>
            <a:ext cx="5303520" cy="82296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5212080"/>
            <a:ext cx="73152" cy="82296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52578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9800"/>
                </a:solidFill>
              </a:defRPr>
            </a:pPr>
            <a:r>
              <a:t>s3_stack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56235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DBDBD"/>
                </a:solidFill>
              </a:defRPr>
            </a:pPr>
            <a:r>
              <a:t>5 buckets S3 com lifecycle policies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92240" y="1188720"/>
            <a:ext cx="5303520" cy="82296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92240" y="1188720"/>
            <a:ext cx="73152" cy="82296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0" y="12344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9800"/>
                </a:solidFill>
              </a:defRPr>
            </a:pPr>
            <a:r>
              <a:t>configuradora_stack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16002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DBDBD"/>
                </a:solidFill>
              </a:defRPr>
            </a:pPr>
            <a:r>
              <a:t>Lambda Configuradora (cria canais)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92240" y="2194560"/>
            <a:ext cx="5303520" cy="82296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92240" y="2194560"/>
            <a:ext cx="73152" cy="82296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0" y="22402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9800"/>
                </a:solidFill>
              </a:defRPr>
            </a:pPr>
            <a:r>
              <a:t>exportadora_stack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0" y="26060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DBDBD"/>
                </a:solidFill>
              </a:defRPr>
            </a:pPr>
            <a:r>
              <a:t>Lambda Exportadora (CSV/JSON)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92240" y="3200400"/>
            <a:ext cx="5303520" cy="82296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492240" y="3200400"/>
            <a:ext cx="73152" cy="82296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66560" y="32461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9800"/>
                </a:solidFill>
              </a:defRPr>
            </a:pPr>
            <a:r>
              <a:t>pipeline_config_stack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66560" y="36118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DBDBD"/>
                </a:solidFill>
              </a:defRPr>
            </a:pPr>
            <a:r>
              <a:t>Pipeline Config + EventBridge (6h)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92240" y="4206240"/>
            <a:ext cx="5303520" cy="82296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492240" y="4206240"/>
            <a:ext cx="73152" cy="82296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66560" y="42519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9800"/>
                </a:solidFill>
              </a:defRPr>
            </a:pPr>
            <a:r>
              <a:t>pipeline_logs_stack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66560" y="46177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DBDBD"/>
                </a:solidFill>
              </a:defRPr>
            </a:pPr>
            <a:r>
              <a:t>Pipeline Logs + EventBridge (1h)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92240" y="5212080"/>
            <a:ext cx="5303520" cy="82296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492240" y="5212080"/>
            <a:ext cx="73152" cy="82296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560" y="52578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9800"/>
                </a:solidFill>
              </a:defRPr>
            </a:pPr>
            <a:r>
              <a:t>frontend_stack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66560" y="56235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DBDBD"/>
                </a:solidFill>
              </a:defRPr>
            </a:pPr>
            <a:r>
              <a:t>S3 + CloudFront para hosting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" y="64008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DBDBD"/>
                </a:solidFill>
              </a:defRPr>
            </a:pPr>
            <a:r>
              <a:t>Deploy multi-região: us-east-1 (API / Bedrock / Cognito)  +  sa-east-1 (Streaming Services)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Segurança e Autenticação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10515600" cy="77724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188720"/>
            <a:ext cx="73152" cy="777240"/>
          </a:xfrm>
          <a:prstGeom prst="rect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2344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F5350"/>
                </a:solidFill>
              </a:defRPr>
            </a:pPr>
            <a:r>
              <a:t>Amazon Cognito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554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DBDBD"/>
                </a:solidFill>
              </a:defRPr>
            </a:pPr>
            <a:r>
              <a:t>User Pool com self-signup desabilitado, criação admin-only, autenticação JWT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103120"/>
            <a:ext cx="10515600" cy="77724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103120"/>
            <a:ext cx="73152" cy="777240"/>
          </a:xfrm>
          <a:prstGeom prst="rect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1488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F5350"/>
                </a:solidFill>
              </a:defRPr>
            </a:pPr>
            <a:r>
              <a:t>IAM Roles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4688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DBDBD"/>
                </a:solidFill>
              </a:defRPr>
            </a:pPr>
            <a:r>
              <a:t>Least privilege para cada Lambda — permissões mínimas necessárias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017520"/>
            <a:ext cx="10515600" cy="77724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017520"/>
            <a:ext cx="73152" cy="777240"/>
          </a:xfrm>
          <a:prstGeom prst="rect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063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F5350"/>
                </a:solidFill>
              </a:defRPr>
            </a:pPr>
            <a:r>
              <a:t>S3 Lifecycle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3832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DBDBD"/>
                </a:solidFill>
              </a:defRPr>
            </a:pPr>
            <a:r>
              <a:t>Exports: 24h TTL | Audit: 365 dias de retenção | KBs: versionamento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931920"/>
            <a:ext cx="10515600" cy="77724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3931920"/>
            <a:ext cx="73152" cy="777240"/>
          </a:xfrm>
          <a:prstGeom prst="rect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39776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F5350"/>
                </a:solidFill>
              </a:defRPr>
            </a:pPr>
            <a:r>
              <a:t>CloudFront OAI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2976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DBDBD"/>
                </a:solidFill>
              </a:defRPr>
            </a:pPr>
            <a:r>
              <a:t>Origin Access Identity para acesso seguro ao S3 Frontend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846320"/>
            <a:ext cx="10515600" cy="77724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4846320"/>
            <a:ext cx="73152" cy="777240"/>
          </a:xfrm>
          <a:prstGeom prst="rect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48920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F5350"/>
                </a:solidFill>
              </a:defRPr>
            </a:pPr>
            <a:r>
              <a:t>Auditoria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212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DBDBD"/>
                </a:solidFill>
              </a:defRPr>
            </a:pPr>
            <a:r>
              <a:t>Registro completo de todas as operações no S3_Audit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760720"/>
            <a:ext cx="10515600" cy="77724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1520" y="5760720"/>
            <a:ext cx="73152" cy="777240"/>
          </a:xfrm>
          <a:prstGeom prst="rect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7280" y="58064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F5350"/>
                </a:solidFill>
              </a:defRPr>
            </a:pPr>
            <a:r>
              <a:t>Criptografia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6126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DBDBD"/>
                </a:solidFill>
              </a:defRPr>
            </a:pPr>
            <a:r>
              <a:t>Dados em trânsito (HTTPS) e em repouso (S3 SSE)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Estimativa de Custos Mensais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1371600"/>
            <a:ext cx="4572000" cy="54864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Serviço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371600"/>
            <a:ext cx="3657600" cy="54864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Custo Estimado / mês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0" y="2011680"/>
            <a:ext cx="4572000" cy="54864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11680" y="21031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B47BC"/>
                </a:solidFill>
              </a:defRPr>
            </a:pPr>
            <a:r>
              <a:t>Amazon Bedrock (Claude)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011680"/>
            <a:ext cx="3657600" cy="54864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21031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</a:defRPr>
            </a:pPr>
            <a:r>
              <a:t>$30 — $100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28800" y="2651760"/>
            <a:ext cx="4572000" cy="54864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11680" y="27432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6BB6A"/>
                </a:solidFill>
              </a:defRPr>
            </a:pPr>
            <a:r>
              <a:t>Amazon S3 (5 buckets)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2651760"/>
            <a:ext cx="3657600" cy="54864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2743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</a:defRPr>
            </a:pPr>
            <a:r>
              <a:t>$1 — $5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828800" y="3291840"/>
            <a:ext cx="4572000" cy="54864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11680" y="33832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9800"/>
                </a:solidFill>
              </a:defRPr>
            </a:pPr>
            <a:r>
              <a:t>AWS Lambda (5 funções)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3291840"/>
            <a:ext cx="3657600" cy="54864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33832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</a:defRPr>
            </a:pPr>
            <a:r>
              <a:t>$0 — $5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28800" y="3931919"/>
            <a:ext cx="4572000" cy="54864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011680" y="4023359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FC3F7"/>
                </a:solidFill>
              </a:defRPr>
            </a:pPr>
            <a:r>
              <a:t>Amazon CloudFront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3931919"/>
            <a:ext cx="3657600" cy="54864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402335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</a:defRPr>
            </a:pPr>
            <a:r>
              <a:t>$1 — $5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828800" y="4572000"/>
            <a:ext cx="4572000" cy="54864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011680" y="46634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DBDBD"/>
                </a:solidFill>
              </a:defRPr>
            </a:pPr>
            <a:r>
              <a:t>Cognito + API GW + EventBridge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4572000"/>
            <a:ext cx="3657600" cy="54864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0" y="46634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</a:defRPr>
            </a:pPr>
            <a:r>
              <a:t>Mínimo (~$1)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828800" y="5394960"/>
            <a:ext cx="4572000" cy="640080"/>
          </a:xfrm>
          <a:prstGeom prst="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TOTAL ESTIMADO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5394960"/>
            <a:ext cx="3657600" cy="640080"/>
          </a:xfrm>
          <a:prstGeom prst="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$35 — $125 / mês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DBDBD"/>
                </a:solidFill>
              </a:defRPr>
            </a:pPr>
            <a:r>
              <a:t>* Custos dos serviços de streaming (MediaLive, MediaPackage, etc.) são separados e dependem do uso.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Lambda Functions — Detalhamento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097280"/>
            <a:ext cx="10515600" cy="96012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097280"/>
            <a:ext cx="73152" cy="96012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1430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9800"/>
                </a:solidFill>
              </a:defRPr>
            </a:pPr>
            <a:r>
              <a:t>Lambda Orquestradora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5087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DBDBD"/>
                </a:solidFill>
              </a:defRPr>
            </a:pPr>
            <a:r>
              <a:t>Ponto de entrada principal. Invoca Bedrock Agent para consultas. Bypass direto para exports e downloads.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194560"/>
            <a:ext cx="10515600" cy="96012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194560"/>
            <a:ext cx="73152" cy="960120"/>
          </a:xfrm>
          <a:prstGeom prst="rect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2402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F5350"/>
                </a:solidFill>
              </a:defRPr>
            </a:pPr>
            <a:r>
              <a:t>Lambda Configuradora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6060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DBDBD"/>
                </a:solidFill>
              </a:defRPr>
            </a:pPr>
            <a:r>
              <a:t>Cria/modifica recursos AWS (MediaLive, MediaPackage V2, MediaTailor, CloudFront). Orquestração com rollback.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291840"/>
            <a:ext cx="10515600" cy="96012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291840"/>
            <a:ext cx="73152" cy="960120"/>
          </a:xfrm>
          <a:prstGeom prst="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3375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66BB6A"/>
                </a:solidFill>
              </a:defRPr>
            </a:pPr>
            <a:r>
              <a:t>Lambda Exportadora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7033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DBDBD"/>
                </a:solidFill>
              </a:defRPr>
            </a:pPr>
            <a:r>
              <a:t>Consulta buckets KB, filtra dados, gera CSV/JSON. Retorna URLs pré-assinadas (24h).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389119"/>
            <a:ext cx="10515600" cy="96012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4389119"/>
            <a:ext cx="73152" cy="96012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4434839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4FC3F7"/>
                </a:solidFill>
              </a:defRPr>
            </a:pPr>
            <a:r>
              <a:t>Pipeline_Config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800599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DBDBD"/>
                </a:solidFill>
              </a:defRPr>
            </a:pPr>
            <a:r>
              <a:t>Coleta configs dos 4 serviços a cada 6h. Normaliza JSON flat. Valida campos. Grava em S3_KBConfig.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486400"/>
            <a:ext cx="10515600" cy="96012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5486400"/>
            <a:ext cx="73152" cy="960120"/>
          </a:xfrm>
          <a:prstGeom prst="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55321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AB47BC"/>
                </a:solidFill>
              </a:defRPr>
            </a:pPr>
            <a:r>
              <a:t>Pipeline_Logs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8978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DBDBD"/>
                </a:solidFill>
              </a:defRPr>
            </a:pPr>
            <a:r>
              <a:t>Coleta métricas CloudWatch a cada 1h. Classifica severidade. Gera Evento_Estruturado. Grava em S3_KBLogs.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DD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Próximos Passos / 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10515600" cy="73152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188720"/>
            <a:ext cx="73152" cy="731520"/>
          </a:xfrm>
          <a:prstGeom prst="rect">
            <a:avLst/>
          </a:prstGeom>
          <a:solidFill>
            <a:srgbClr val="FDD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05840" y="1371600"/>
            <a:ext cx="1645920" cy="365760"/>
          </a:xfrm>
          <a:prstGeom prst="rect">
            <a:avLst/>
          </a:prstGeom>
          <a:solidFill>
            <a:srgbClr val="FDD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200" b="1">
                <a:solidFill>
                  <a:srgbClr val="212121"/>
                </a:solidFill>
              </a:defRPr>
            </a:pPr>
            <a:r>
              <a:t>Em andamento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1371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DBDBD"/>
                </a:solidFill>
              </a:defRPr>
            </a:pPr>
            <a:r>
              <a:t>Migração de logs para métricas CloudWatch (Pipeline_Logs)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057400"/>
            <a:ext cx="10515600" cy="73152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057400"/>
            <a:ext cx="73152" cy="731520"/>
          </a:xfrm>
          <a:prstGeom prst="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05840" y="2240280"/>
            <a:ext cx="1645920" cy="365760"/>
          </a:xfrm>
          <a:prstGeom prst="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200" b="1">
                <a:solidFill>
                  <a:srgbClr val="212121"/>
                </a:solidFill>
              </a:defRPr>
            </a:pPr>
            <a:r>
              <a:t>Curto prazo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22402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DBDBD"/>
                </a:solidFill>
              </a:defRPr>
            </a:pPr>
            <a:r>
              <a:t>Dashboard visual de saúde dos canais em tempo real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926080"/>
            <a:ext cx="10515600" cy="73152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2926080"/>
            <a:ext cx="73152" cy="731520"/>
          </a:xfrm>
          <a:prstGeom prst="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05840" y="3108960"/>
            <a:ext cx="1645920" cy="365760"/>
          </a:xfrm>
          <a:prstGeom prst="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200" b="1">
                <a:solidFill>
                  <a:srgbClr val="212121"/>
                </a:solidFill>
              </a:defRPr>
            </a:pPr>
            <a:r>
              <a:t>Curto prazo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31089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DBDBD"/>
                </a:solidFill>
              </a:defRPr>
            </a:pPr>
            <a:r>
              <a:t>Alertas proativos baseados em classificação de severidade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794759"/>
            <a:ext cx="10515600" cy="73152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3794759"/>
            <a:ext cx="73152" cy="73152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05840" y="3977639"/>
            <a:ext cx="1645920" cy="36576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200" b="1">
                <a:solidFill>
                  <a:srgbClr val="212121"/>
                </a:solidFill>
              </a:defRPr>
            </a:pPr>
            <a:r>
              <a:t>Médio prazo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977639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DBDBD"/>
                </a:solidFill>
              </a:defRPr>
            </a:pPr>
            <a:r>
              <a:t>Suporte a mais operações de modificação de canais existentes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663440"/>
            <a:ext cx="10515600" cy="73152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4663440"/>
            <a:ext cx="73152" cy="73152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05840" y="4846320"/>
            <a:ext cx="1645920" cy="36576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200" b="1">
                <a:solidFill>
                  <a:srgbClr val="212121"/>
                </a:solidFill>
              </a:defRPr>
            </a:pPr>
            <a:r>
              <a:t>Médio prazo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0" y="48463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DBDBD"/>
                </a:solidFill>
              </a:defRPr>
            </a:pPr>
            <a:r>
              <a:t>Integração com sistemas de ticketing (ServiceNow, Jira)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532120"/>
            <a:ext cx="10515600" cy="73152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1520" y="5532120"/>
            <a:ext cx="73152" cy="731520"/>
          </a:xfrm>
          <a:prstGeom prst="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05840" y="5715000"/>
            <a:ext cx="1645920" cy="365760"/>
          </a:xfrm>
          <a:prstGeom prst="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200" b="1">
                <a:solidFill>
                  <a:srgbClr val="212121"/>
                </a:solidFill>
              </a:defRPr>
            </a:pPr>
            <a:r>
              <a:t>Longo prazo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26080" y="57150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DBDBD"/>
                </a:solidFill>
              </a:defRPr>
            </a:pPr>
            <a:r>
              <a:t>Análise preditiva de falhas com histórico de métricas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Obrigado!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2743200"/>
            <a:ext cx="8229600" cy="320040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0" y="3017520"/>
            <a:ext cx="7315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BDBDBD"/>
                </a:solidFill>
              </a:defRPr>
            </a:pPr>
            <a:r>
              <a:t>Chatbot IA para NOC que simplifica a gestão de ~220 canais de streaming</a:t>
            </a:r>
          </a:p>
          <a:p>
            <a:pPr>
              <a:spcAft>
                <a:spcPts val="600"/>
              </a:spcAft>
              <a:defRPr sz="1700">
                <a:solidFill>
                  <a:srgbClr val="BDBDBD"/>
                </a:solidFill>
              </a:defRPr>
            </a:pPr>
            <a:r>
              <a:t>Consultas em linguagem natural com RAG sobre dados reais</a:t>
            </a:r>
          </a:p>
          <a:p>
            <a:pPr>
              <a:spcAft>
                <a:spcPts val="600"/>
              </a:spcAft>
              <a:defRPr sz="1700">
                <a:solidFill>
                  <a:srgbClr val="BDBDBD"/>
                </a:solidFill>
              </a:defRPr>
            </a:pPr>
            <a:r>
              <a:t>Criação automatizada de canais com orquestração e rollback</a:t>
            </a:r>
          </a:p>
          <a:p>
            <a:pPr>
              <a:spcAft>
                <a:spcPts val="600"/>
              </a:spcAft>
              <a:defRPr sz="1700">
                <a:solidFill>
                  <a:srgbClr val="BDBDBD"/>
                </a:solidFill>
              </a:defRPr>
            </a:pPr>
            <a:r>
              <a:t>Ingestão contínua de configurações e métricas CloudWatch</a:t>
            </a:r>
          </a:p>
          <a:p>
            <a:pPr>
              <a:spcAft>
                <a:spcPts val="600"/>
              </a:spcAft>
              <a:defRPr sz="1700">
                <a:solidFill>
                  <a:srgbClr val="BDBDBD"/>
                </a:solidFill>
              </a:defRPr>
            </a:pPr>
            <a:r>
              <a:t>Arquitetura serverless, escalável e de baixo custo ($35-125/mês)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4FC3F7"/>
                </a:solidFill>
              </a:defRPr>
            </a:pPr>
            <a:r>
              <a:t>Perguntas?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