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Intelligent Streaming Channel</a:t>
            </a:r>
            <a:br/>
            <a:r>
              <a:t>Management Platform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FC3F7"/>
                </a:solidFill>
              </a:defRPr>
            </a:pPr>
            <a:r>
              <a:t>AI-Powered Chatbot for NOC Operators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DBDBD"/>
                </a:solidFill>
              </a:defRPr>
            </a:pPr>
            <a:r>
              <a:t>Amazon Bedrock  |  DynamoDB  |  MediaLive  |  MediaPackage V2  |  MediaTailor  |  CloudFront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10058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10058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5350"/>
                </a:solidFill>
              </a:defRPr>
            </a:pPr>
            <a:r>
              <a:t>~220 live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74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DBDBD"/>
                </a:solidFill>
              </a:defRPr>
            </a:pPr>
            <a:r>
              <a:t>NOC operators manage hundreds of live streaming channels simultaneously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10515600" cy="10058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06040"/>
            <a:ext cx="73152" cy="10058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5350"/>
                </a:solidFill>
              </a:defRPr>
            </a:pPr>
            <a:r>
              <a:t>Multiple AWS consoles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08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DBDBD"/>
                </a:solidFill>
              </a:defRPr>
            </a:pPr>
            <a:r>
              <a:t>Querying configurations, logs and metrics requires navigating multiple consoles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515600" cy="10058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73152" cy="10058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5350"/>
                </a:solidFill>
              </a:defRPr>
            </a:pPr>
            <a:r>
              <a:t>Complex channel creation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43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DBDBD"/>
                </a:solidFill>
              </a:defRPr>
            </a:pPr>
            <a:r>
              <a:t>Creating a channel involves 4+ AWS services with interdependent configurations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10515600" cy="10058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074920"/>
            <a:ext cx="73152" cy="10058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66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5350"/>
                </a:solidFill>
              </a:defRPr>
            </a:pPr>
            <a:r>
              <a:t>Manual troubleshooting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DBDBD"/>
                </a:solidFill>
              </a:defRPr>
            </a:pPr>
            <a:r>
              <a:t>Manual correlation of data from different sources to diagnose problems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The Solution — Intelligent NOC Chatbot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73152" cy="8229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53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B6A"/>
                </a:solidFill>
              </a:defRPr>
            </a:pPr>
            <a:r>
              <a:t>Natural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Conversational interface in Portuguese for queries and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1051560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73152" cy="8229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59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B6A"/>
                </a:solidFill>
              </a:defRPr>
            </a:pPr>
            <a:r>
              <a:t>Intelligent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97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Retrieval-Augmented Generation over real channel configs and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51560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91840"/>
            <a:ext cx="73152" cy="8229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364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B6A"/>
                </a:solidFill>
              </a:defRPr>
            </a:pPr>
            <a:r>
              <a:t>DynamoDB Fast Queries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03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Sub-second queries via DynamoDB with S3 fallback (was 30-120s, now &lt;500ms)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1051560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73152" cy="8229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70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B6A"/>
                </a:solidFill>
              </a:defRPr>
            </a:pPr>
            <a:r>
              <a:t>Automated Creation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09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Orchestrated channel creation with template cloning and automatic rollback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1051560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303520"/>
            <a:ext cx="73152" cy="8229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376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B6A"/>
                </a:solidFill>
              </a:defRPr>
            </a:pPr>
            <a:r>
              <a:t>Proactive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715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SNS notifications for ERROR/CRITICAL events with suppression window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6309360"/>
            <a:ext cx="10515600" cy="8229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6309360"/>
            <a:ext cx="73152" cy="8229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63825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B6A"/>
                </a:solidFill>
              </a:defRPr>
            </a:pPr>
            <a:r>
              <a:t>Data 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720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CSV/JSON generation with pre-signed download URLs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Solution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502920"/>
            <a:ext cx="1645920" cy="45720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NOC Operator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960120"/>
            <a:ext cx="27432" cy="18288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10800000">
            <a:off x="6007608" y="1143000"/>
            <a:ext cx="182880" cy="137160"/>
          </a:xfrm>
          <a:prstGeom prst="triangle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161288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FC3F7"/>
                </a:solidFill>
              </a:defRPr>
            </a:pPr>
            <a:r>
              <a:t>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325880"/>
            <a:ext cx="1645920" cy="5029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C3F7"/>
                </a:solidFill>
              </a:defRPr>
            </a:pPr>
            <a:r>
              <a:t>CloudFront</a:t>
            </a:r>
            <a:br/>
            <a:r>
              <a:t>(CDN)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325880"/>
            <a:ext cx="1645920" cy="5029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C3F7"/>
                </a:solidFill>
              </a:defRPr>
            </a:pPr>
            <a:r>
              <a:t>S3 Frontend</a:t>
            </a:r>
            <a:br/>
            <a:r>
              <a:t>(HTML/JS)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325880"/>
            <a:ext cx="1645920" cy="5029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C3F7"/>
                </a:solidFill>
              </a:defRPr>
            </a:pPr>
            <a:r>
              <a:t>Cognito</a:t>
            </a:r>
            <a:br/>
            <a:r>
              <a:t>(JWT Auth)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Dark theme chat UI, 45+ categorized suggestions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965960"/>
            <a:ext cx="27432" cy="13716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0800000">
            <a:off x="6007608" y="2103120"/>
            <a:ext cx="182880" cy="137160"/>
          </a:xfrm>
          <a:prstGeom prst="triangle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148840"/>
            <a:ext cx="11612880" cy="777240"/>
          </a:xfrm>
          <a:prstGeom prst="rect">
            <a:avLst/>
          </a:prstGeom>
          <a:solidFill>
            <a:srgbClr val="4A2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800"/>
                </a:solidFill>
              </a:defRPr>
            </a:pPr>
            <a:r>
              <a:t>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2286000"/>
            <a:ext cx="2011680" cy="5029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9800"/>
                </a:solidFill>
              </a:defRPr>
            </a:pPr>
            <a:r>
              <a:t>API Gateway REST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286000"/>
            <a:ext cx="2286000" cy="5029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9800"/>
                </a:solidFill>
              </a:defRPr>
            </a:pPr>
            <a:r>
              <a:t>Lambda Function URL</a:t>
            </a:r>
            <a:br/>
            <a:r>
              <a:t>(5min timeout)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2926080"/>
            <a:ext cx="27432" cy="13716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6007608" y="3063240"/>
            <a:ext cx="182880" cy="137160"/>
          </a:xfrm>
          <a:prstGeom prst="triangle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108960"/>
            <a:ext cx="11612880" cy="1691640"/>
          </a:xfrm>
          <a:prstGeom prst="rect">
            <a:avLst/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B47BC"/>
                </a:solidFill>
              </a:defRPr>
            </a:pPr>
            <a:r>
              <a:t>Orchestration (us-east-1)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3291840"/>
            <a:ext cx="2286000" cy="5029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9800"/>
                </a:solidFill>
              </a:defRPr>
            </a:pPr>
            <a:r>
              <a:t>Orchestrator Lambda</a:t>
            </a:r>
            <a:br/>
            <a:r>
              <a:t>(Entry Point)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794760"/>
            <a:ext cx="27432" cy="1371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10800000">
            <a:off x="2852928" y="3931920"/>
            <a:ext cx="182880" cy="137160"/>
          </a:xfrm>
          <a:prstGeom prst="triangl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3794760"/>
            <a:ext cx="27432" cy="1371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10800000">
            <a:off x="6007608" y="3931920"/>
            <a:ext cx="182880" cy="137160"/>
          </a:xfrm>
          <a:prstGeom prst="triangl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26880" y="3794760"/>
            <a:ext cx="27432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9253728" y="3931920"/>
            <a:ext cx="182880" cy="137160"/>
          </a:xfrm>
          <a:prstGeom prst="triangl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371600" y="3977639"/>
            <a:ext cx="1828800" cy="5029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B47BC"/>
                </a:solidFill>
              </a:defRPr>
            </a:pPr>
            <a:r>
              <a:t>Bedrock Agent</a:t>
            </a:r>
            <a:br/>
            <a:r>
              <a:t>(Claude PT-BR)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3977639"/>
            <a:ext cx="1371600" cy="5029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66BB6A"/>
                </a:solidFill>
              </a:defRPr>
            </a:pPr>
            <a:r>
              <a:t>KB_CONFIG</a:t>
            </a:r>
            <a:br/>
            <a:r>
              <a:t>(~220 channels)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4526280"/>
            <a:ext cx="1371600" cy="4114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66BB6A"/>
                </a:solidFill>
              </a:defRPr>
            </a:pPr>
            <a:r>
              <a:t>KB_LOGS</a:t>
            </a:r>
            <a:br/>
            <a:r>
              <a:t>(metrics)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3977639"/>
            <a:ext cx="1828800" cy="5029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6BB6A"/>
                </a:solidFill>
              </a:defRPr>
            </a:pPr>
            <a:r>
              <a:t>Exporter Lambda</a:t>
            </a:r>
            <a:br/>
            <a:r>
              <a:t>(CSV/JSON)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3977639"/>
            <a:ext cx="2286000" cy="5029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F5350"/>
                </a:solidFill>
              </a:defRPr>
            </a:pPr>
            <a:r>
              <a:t>Configurator Lambda</a:t>
            </a:r>
            <a:br/>
            <a:r>
              <a:t>(Create Channels + Rollback)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4206240"/>
            <a:ext cx="228600" cy="2743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5400000">
            <a:off x="3429000" y="4133088"/>
            <a:ext cx="137160" cy="182880"/>
          </a:xfrm>
          <a:prstGeom prst="triangl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80760" y="4800600"/>
            <a:ext cx="27432" cy="13716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 rot="10800000">
            <a:off x="6007608" y="4937760"/>
            <a:ext cx="182880" cy="137160"/>
          </a:xfrm>
          <a:prstGeom prst="triangle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4983480"/>
            <a:ext cx="11612880" cy="64008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BB6A"/>
                </a:solidFill>
              </a:defRPr>
            </a:pPr>
            <a:r>
              <a:t>Storage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074920"/>
            <a:ext cx="1554480" cy="457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66BB6A"/>
                </a:solidFill>
              </a:defRPr>
            </a:pPr>
            <a:r>
              <a:t>S3_KBConfig</a:t>
            </a:r>
            <a:br/>
            <a:r>
              <a:t>(flat JSON)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0" y="5074920"/>
            <a:ext cx="1554480" cy="457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66BB6A"/>
                </a:solidFill>
              </a:defRPr>
            </a:pPr>
            <a:r>
              <a:t>S3_KBLogs</a:t>
            </a:r>
            <a:br/>
            <a:r>
              <a:t>(Events)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23360" y="5074920"/>
            <a:ext cx="1554480" cy="4572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4FC3F7"/>
                </a:solidFill>
              </a:defRPr>
            </a:pPr>
            <a:r>
              <a:t>DynamoDB</a:t>
            </a:r>
            <a:br/>
            <a:r>
              <a:t>StreamingConfigs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60720" y="5074920"/>
            <a:ext cx="1554480" cy="4572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4FC3F7"/>
                </a:solidFill>
              </a:defRPr>
            </a:pPr>
            <a:r>
              <a:t>DynamoDB</a:t>
            </a:r>
            <a:br/>
            <a:r>
              <a:t>StreamingLogs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79" y="5074920"/>
            <a:ext cx="1554480" cy="457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66BB6A"/>
                </a:solidFill>
              </a:defRPr>
            </a:pPr>
            <a:r>
              <a:t>S3_Audit</a:t>
            </a:r>
            <a:br/>
            <a:r>
              <a:t>(365 days)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26880" y="5074920"/>
            <a:ext cx="1554480" cy="457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66BB6A"/>
                </a:solidFill>
              </a:defRPr>
            </a:pPr>
            <a:r>
              <a:t>S3_Exports</a:t>
            </a:r>
            <a:br/>
            <a:r>
              <a:t>(24h TTL)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5623560"/>
            <a:ext cx="27432" cy="9144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 rot="10800000">
            <a:off x="6007608" y="5715000"/>
            <a:ext cx="182880" cy="137160"/>
          </a:xfrm>
          <a:prstGeom prst="triangle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5760720"/>
            <a:ext cx="5303520" cy="960120"/>
          </a:xfrm>
          <a:prstGeom prst="rect">
            <a:avLst/>
          </a:prstGeom>
          <a:solidFill>
            <a:srgbClr val="3A3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DD835"/>
                </a:solidFill>
              </a:defRPr>
            </a:pPr>
            <a:r>
              <a:t>Ingestion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989320"/>
            <a:ext cx="210312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DD835"/>
                </a:solidFill>
              </a:defRPr>
            </a:pPr>
            <a:r>
              <a:t>EventBridge (6h) &gt; Pipeline_Config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926080" y="5989320"/>
            <a:ext cx="246888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DD835"/>
                </a:solidFill>
              </a:defRPr>
            </a:pPr>
            <a:r>
              <a:t>EventBridge (1h) &gt; Pipeline_Logs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382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DBDBD"/>
                </a:solidFill>
              </a:defRPr>
            </a:pPr>
            <a:r>
              <a:t>Dual-write: S3 (RAG) + DynamoDB (fast queries) | Configs 6h, Metrics 1h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0" y="5760720"/>
            <a:ext cx="5943600" cy="960120"/>
          </a:xfrm>
          <a:prstGeom prst="rect">
            <a:avLst/>
          </a:prstGeom>
          <a:solidFill>
            <a:srgbClr val="4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3504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5350"/>
                </a:solidFill>
              </a:defRPr>
            </a:pPr>
            <a:r>
              <a:t>Streaming (sa-east-1)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26480" y="5989320"/>
            <a:ext cx="118872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5350"/>
                </a:solidFill>
              </a:defRPr>
            </a:pPr>
            <a:r>
              <a:t>MediaLive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98079" y="5989320"/>
            <a:ext cx="118872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5350"/>
                </a:solidFill>
              </a:defRPr>
            </a:pPr>
            <a:r>
              <a:t>MediaPkg V2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869680" y="5989320"/>
            <a:ext cx="118872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5350"/>
                </a:solidFill>
              </a:defRPr>
            </a:pPr>
            <a:r>
              <a:t>MediaTailor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241280" y="5989320"/>
            <a:ext cx="118872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5350"/>
                </a:solidFill>
              </a:defRPr>
            </a:pPr>
            <a:r>
              <a:t>CloudFront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26480" y="6400800"/>
            <a:ext cx="1188720" cy="2743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DD835"/>
                </a:solidFill>
              </a:defRPr>
            </a:pPr>
            <a:r>
              <a:t>CloudWatch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Flow Diagram — Chatbot Query (RAG)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560320"/>
            <a:ext cx="1188720" cy="82296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NOC</a:t>
            </a:r>
            <a:br/>
            <a:r>
              <a:t>Operator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2926080"/>
            <a:ext cx="365760" cy="2743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1828800" y="2852928"/>
            <a:ext cx="137160" cy="18288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20240" y="2560320"/>
            <a:ext cx="1463040" cy="82296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CloudFront</a:t>
            </a:r>
            <a:br/>
            <a:r>
              <a:t>+ S3 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926080"/>
            <a:ext cx="365760" cy="2743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3749040" y="2852928"/>
            <a:ext cx="137160" cy="182880"/>
          </a:xfrm>
          <a:prstGeom prst="triangl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20240" y="1371600"/>
            <a:ext cx="1463040" cy="548640"/>
          </a:xfrm>
          <a:prstGeom prst="round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Cognito (JWT)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3472" y="1920240"/>
            <a:ext cx="27432" cy="502920"/>
          </a:xfrm>
          <a:prstGeom prst="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2560320" y="2423160"/>
            <a:ext cx="182880" cy="137160"/>
          </a:xfrm>
          <a:prstGeom prst="triangle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0" y="2560320"/>
            <a:ext cx="1645920" cy="82296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Orchestrator</a:t>
            </a:r>
            <a:br/>
            <a:r>
              <a:t>Lambda</a:t>
            </a:r>
            <a:br/>
            <a:r>
              <a:t>(5min timeout)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2926080"/>
            <a:ext cx="365760" cy="2743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5852160" y="2852928"/>
            <a:ext cx="137160" cy="182880"/>
          </a:xfrm>
          <a:prstGeom prst="triangl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0" y="2560320"/>
            <a:ext cx="1645920" cy="82296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Bedrock Agent</a:t>
            </a:r>
            <a:br/>
            <a:r>
              <a:t>(Claude)</a:t>
            </a:r>
            <a:br/>
            <a:r>
              <a:t>Portuguese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286000"/>
            <a:ext cx="457200" cy="2743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8046720" y="2212848"/>
            <a:ext cx="137160" cy="182880"/>
          </a:xfrm>
          <a:prstGeom prst="triangl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3474720"/>
            <a:ext cx="457200" cy="2743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5400000">
            <a:off x="8046720" y="3401568"/>
            <a:ext cx="137160" cy="182880"/>
          </a:xfrm>
          <a:prstGeom prst="triangl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60" y="1645920"/>
            <a:ext cx="1828800" cy="100584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KB_CONFIG</a:t>
            </a:r>
            <a:br/>
            <a:r>
              <a:t>(~220 channels)</a:t>
            </a:r>
            <a:br/>
            <a:r>
              <a:t>Flat JSON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200400"/>
            <a:ext cx="1828800" cy="100584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KB_LOGS</a:t>
            </a:r>
            <a:br/>
            <a:r>
              <a:t>(CW Metrics)</a:t>
            </a:r>
            <a:br/>
            <a:r>
              <a:t>Structured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697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BB6A"/>
                </a:solidFill>
              </a:defRPr>
            </a:pPr>
            <a:r>
              <a:t>RAG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4572000"/>
            <a:ext cx="2743200" cy="73152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Contextualized response</a:t>
            </a:r>
            <a:br/>
            <a:r>
              <a:t>in Portuguese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3383280"/>
            <a:ext cx="27432" cy="10515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10800000">
            <a:off x="4590288" y="4434840"/>
            <a:ext cx="182880" cy="137160"/>
          </a:xfrm>
          <a:prstGeom prst="triangl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0" y="4754880"/>
            <a:ext cx="1280160" cy="2743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B47BC"/>
                </a:solidFill>
              </a:defRPr>
            </a:pPr>
            <a:r>
              <a:t>&lt;- response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572000"/>
            <a:ext cx="201168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BB6A"/>
                </a:solidFill>
              </a:defRPr>
            </a:pPr>
            <a:r>
              <a:t>Example queries: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89204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BDBDBD"/>
                </a:solidFill>
              </a:defRPr>
            </a:pPr>
            <a:r>
              <a:t>"Channels with 1080p?"</a:t>
            </a:r>
          </a:p>
          <a:p>
            <a:pPr>
              <a:spcAft>
                <a:spcPts val="600"/>
              </a:spcAft>
              <a:defRPr sz="900">
                <a:solidFill>
                  <a:srgbClr val="BDBDBD"/>
                </a:solidFill>
              </a:defRPr>
            </a:pPr>
            <a:r>
              <a:t>"Critical errors 24h?"</a:t>
            </a:r>
          </a:p>
          <a:p>
            <a:pPr>
              <a:spcAft>
                <a:spcPts val="600"/>
              </a:spcAft>
              <a:defRPr sz="900">
                <a:solidFill>
                  <a:srgbClr val="BDBDBD"/>
                </a:solidFill>
              </a:defRPr>
            </a:pPr>
            <a:r>
              <a:t>"Config of channel X?"</a:t>
            </a:r>
          </a:p>
          <a:p>
            <a:pPr>
              <a:spcAft>
                <a:spcPts val="600"/>
              </a:spcAft>
              <a:defRPr sz="900">
                <a:solidFill>
                  <a:srgbClr val="BDBDBD"/>
                </a:solidFill>
              </a:defRPr>
            </a:pPr>
            <a:r>
              <a:t>"H.265 channels?"</a:t>
            </a:r>
          </a:p>
          <a:p>
            <a:pPr>
              <a:spcAft>
                <a:spcPts val="600"/>
              </a:spcAft>
              <a:defRPr sz="900">
                <a:solidFill>
                  <a:srgbClr val="BDBDBD"/>
                </a:solidFill>
              </a:defRPr>
            </a:pPr>
            <a:r>
              <a:t>"Export CSV?"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Legend: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41280" y="4892040"/>
            <a:ext cx="228600" cy="1828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61320" y="48737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Presentation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1280" y="5212080"/>
            <a:ext cx="228600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61320" y="51937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Compute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41280" y="5532120"/>
            <a:ext cx="228600" cy="18288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61320" y="55138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AI / Bedrock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41280" y="5852159"/>
            <a:ext cx="228600" cy="1828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61320" y="5833871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Data / S3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Flow Diagram — Orchestrated Channel Creation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1371600" cy="64008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Operator</a:t>
            </a:r>
            <a:br/>
            <a:r>
              <a:t>"Create channel X"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188720"/>
            <a:ext cx="274320" cy="27432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1920240" y="1115568"/>
            <a:ext cx="137160" cy="182880"/>
          </a:xfrm>
          <a:prstGeom prst="triangle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822960"/>
            <a:ext cx="2103120" cy="82296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Bedrock Agent</a:t>
            </a:r>
            <a:br/>
            <a:r>
              <a:t>Collects parameters</a:t>
            </a:r>
            <a:br/>
            <a:r>
              <a:t>conversationally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188720"/>
            <a:ext cx="274320" cy="27432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4389120" y="1115568"/>
            <a:ext cx="137160" cy="182880"/>
          </a:xfrm>
          <a:prstGeom prst="triangle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822960"/>
            <a:ext cx="2103120" cy="82296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Configurator</a:t>
            </a:r>
            <a:br/>
            <a:r>
              <a:t>Lambda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011680"/>
            <a:ext cx="914400" cy="6400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2011680"/>
            <a:ext cx="4023360" cy="6400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DBDBD"/>
                </a:solidFill>
              </a:defRPr>
            </a:pPr>
            <a:r>
              <a:t>Create MediaPackage V2 Channel (Channel Group + Channel)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10512" y="2651760"/>
            <a:ext cx="27432" cy="2286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0800000">
            <a:off x="1737360" y="2880360"/>
            <a:ext cx="182880" cy="13716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3017520"/>
            <a:ext cx="914400" cy="6400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3017520"/>
            <a:ext cx="4023360" cy="6400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DBDBD"/>
                </a:solidFill>
              </a:defRPr>
            </a:pPr>
            <a:r>
              <a:t>Create HLS / DASH Endpoints on MediaPackage 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10512" y="3657600"/>
            <a:ext cx="27432" cy="2286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10800000">
            <a:off x="1737360" y="3886200"/>
            <a:ext cx="182880" cy="137160"/>
          </a:xfrm>
          <a:prstGeom prst="triangl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4023360"/>
            <a:ext cx="91440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7440" y="4023360"/>
            <a:ext cx="4023360" cy="6400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DBDBD"/>
                </a:solidFill>
              </a:defRPr>
            </a:pPr>
            <a:r>
              <a:t>Create MediaLive Inputs (RTMP/RTP with Failover)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10512" y="4663440"/>
            <a:ext cx="27432" cy="2286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10800000">
            <a:off x="1737360" y="4892040"/>
            <a:ext cx="182880" cy="137160"/>
          </a:xfrm>
          <a:prstGeom prst="triangl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71600" y="5029200"/>
            <a:ext cx="914400" cy="64008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77440" y="5029200"/>
            <a:ext cx="4023360" cy="6400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DBDBD"/>
                </a:solidFill>
              </a:defRPr>
            </a:pPr>
            <a:r>
              <a:t>Create MediaLive Channel (links inputs + endpoints)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6035040"/>
            <a:ext cx="5029200" cy="54864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Channel Created Successfully!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1828800"/>
            <a:ext cx="4389120" cy="2743200"/>
          </a:xfrm>
          <a:prstGeom prst="roundRect">
            <a:avLst/>
          </a:prstGeom>
          <a:solidFill>
            <a:srgbClr val="4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1828800"/>
            <a:ext cx="4389120" cy="45720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AUTOMATIC ROLLBACK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237744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DBDBD"/>
                </a:solidFill>
              </a:defRPr>
            </a:pPr>
            <a:r>
              <a:t>Failure at any step triggers rollback</a:t>
            </a:r>
          </a:p>
          <a:p>
            <a:pPr>
              <a:spcAft>
                <a:spcPts val="600"/>
              </a:spcAft>
              <a:defRPr sz="1200">
                <a:solidFill>
                  <a:srgbClr val="BDBDBD"/>
                </a:solidFill>
              </a:defRPr>
            </a:pPr>
            <a:r>
              <a:t>Undoes previous steps in reverse order</a:t>
            </a:r>
          </a:p>
          <a:p>
            <a:pPr>
              <a:spcAft>
                <a:spcPts val="600"/>
              </a:spcAft>
              <a:defRPr sz="1200">
                <a:solidFill>
                  <a:srgbClr val="BDBDBD"/>
                </a:solidFill>
              </a:defRPr>
            </a:pPr>
            <a:r>
              <a:t>Full audit trail in S3_Audit</a:t>
            </a:r>
          </a:p>
          <a:p>
            <a:pPr>
              <a:spcAft>
                <a:spcPts val="600"/>
              </a:spcAft>
              <a:defRPr sz="1200">
                <a:solidFill>
                  <a:srgbClr val="BDBDBD"/>
                </a:solidFill>
              </a:defRPr>
            </a:pPr>
            <a:r>
              <a:t>Operator receives detailed error message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926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5350"/>
                </a:solidFill>
              </a:defRPr>
            </a:pPr>
            <a:r>
              <a:t>failure 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4846320"/>
            <a:ext cx="4389120" cy="1828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0" y="4846320"/>
            <a:ext cx="4389120" cy="36576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Parameters Collected via Chat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5303520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Channel name</a:t>
            </a:r>
          </a:p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Video codec (H.264 / H.265)</a:t>
            </a:r>
          </a:p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Resolution (1080p / 720p)</a:t>
            </a:r>
          </a:p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Bitrate / Input type (RTMP/RTP)</a:t>
            </a:r>
          </a:p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Automatic failover (yes/no)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DynamoDB — Fast Query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77240"/>
            <a:ext cx="5669280" cy="23774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5669280" cy="41148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BEFORE — S3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DBDBD"/>
                </a:solidFill>
              </a:defRPr>
            </a:pPr>
            <a:r>
              <a:t>Exporter lists + reads thousands of JSON files from S3</a:t>
            </a:r>
          </a:p>
          <a:p>
            <a:pPr>
              <a:spcAft>
                <a:spcPts val="600"/>
              </a:spcAft>
              <a:defRPr sz="1200">
                <a:solidFill>
                  <a:srgbClr val="BDBDBD"/>
                </a:solidFill>
              </a:defRPr>
            </a:pPr>
            <a:r>
              <a:t>Query latency: 30-120 seconds per request</a:t>
            </a:r>
          </a:p>
          <a:p>
            <a:pPr>
              <a:spcAft>
                <a:spcPts val="600"/>
              </a:spcAft>
              <a:defRPr sz="1200">
                <a:solidFill>
                  <a:srgbClr val="BDBDBD"/>
                </a:solidFill>
              </a:defRPr>
            </a:pPr>
            <a:r>
              <a:t>No indexing — full scan for every query</a:t>
            </a:r>
          </a:p>
          <a:p>
            <a:pPr>
              <a:spcAft>
                <a:spcPts val="600"/>
              </a:spcAft>
              <a:defRPr sz="1200">
                <a:solidFill>
                  <a:srgbClr val="BDBDBD"/>
                </a:solidFill>
              </a:defRPr>
            </a:pPr>
            <a:r>
              <a:t>Chatbot responses slow for data-heavy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777240"/>
            <a:ext cx="5669280" cy="23774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777240"/>
            <a:ext cx="5669280" cy="4114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AFTER — DynamoDB + S3 Dual-Write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DBDBD"/>
                </a:solidFill>
              </a:defRPr>
            </a:pPr>
            <a:r>
              <a:t>DynamoDB queries with GSI indexes (&lt;500ms)</a:t>
            </a:r>
          </a:p>
          <a:p>
            <a:pPr>
              <a:spcAft>
                <a:spcPts val="600"/>
              </a:spcAft>
              <a:defRPr sz="1200">
                <a:solidFill>
                  <a:srgbClr val="BDBDBD"/>
                </a:solidFill>
              </a:defRPr>
            </a:pPr>
            <a:r>
              <a:t>S3 preserved for Bedrock RAG Knowledge Base</a:t>
            </a:r>
          </a:p>
          <a:p>
            <a:pPr>
              <a:spcAft>
                <a:spcPts val="600"/>
              </a:spcAft>
              <a:defRPr sz="1200">
                <a:solidFill>
                  <a:srgbClr val="BDBDBD"/>
                </a:solidFill>
              </a:defRPr>
            </a:pPr>
            <a:r>
              <a:t>Automatic fallback to S3 if DynamoDB fails</a:t>
            </a:r>
          </a:p>
          <a:p>
            <a:pPr>
              <a:spcAft>
                <a:spcPts val="600"/>
              </a:spcAft>
              <a:defRPr sz="1200">
                <a:solidFill>
                  <a:srgbClr val="BDBDBD"/>
                </a:solidFill>
              </a:defRPr>
            </a:pPr>
            <a:r>
              <a:t>~$3/month additional cost (PAY_PER_REQUEST)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383280"/>
            <a:ext cx="5669280" cy="32004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5669280" cy="4114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StreamingConfigs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PK: {servico}#{tipo}  |  SK: {resource_id}</a:t>
            </a:r>
          </a:p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GSI_NomeCanal: search by channel name</a:t>
            </a:r>
          </a:p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~285 items  |  Point-in-time recovery</a:t>
            </a:r>
          </a:p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Top-level: servico, nome_canal, estado, regiao</a:t>
            </a:r>
          </a:p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Full config in 'data' field (JSON)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383280"/>
            <a:ext cx="5669280" cy="32004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383280"/>
            <a:ext cx="5669280" cy="4114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StreamingLogs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86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PK: {servico}#{canal}  |  SK: {timestamp}#{metrica}</a:t>
            </a:r>
          </a:p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GSI_Severidade: filter by severity level</a:t>
            </a:r>
          </a:p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TTL: 30 days auto-expiration</a:t>
            </a:r>
          </a:p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~1.74M items/month  |  ~870MB storage</a:t>
            </a:r>
          </a:p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Top-level: severidade, canal, metrica_nome/valor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Flow Diagram — Ingestion Pipelines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5669280" cy="4114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Configuration Pipeline (every 6h)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463040" cy="594360"/>
          </a:xfrm>
          <a:prstGeom prst="round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EventBridge</a:t>
            </a:r>
            <a:br/>
            <a:r>
              <a:t>Scheduler (6h)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645920"/>
            <a:ext cx="274320" cy="27432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2194560" y="1572768"/>
            <a:ext cx="137160" cy="182880"/>
          </a:xfrm>
          <a:prstGeom prst="triangle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0" y="1371600"/>
            <a:ext cx="1463040" cy="59436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Pipeline_Config</a:t>
            </a:r>
            <a:br/>
            <a:r>
              <a:t>Lambda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645920"/>
            <a:ext cx="274320" cy="27432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4023359" y="1572768"/>
            <a:ext cx="137160" cy="182880"/>
          </a:xfrm>
          <a:prstGeom prst="triangle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0" y="1371600"/>
            <a:ext cx="1645920" cy="594360"/>
          </a:xfrm>
          <a:prstGeom prst="roundRect">
            <a:avLst/>
          </a:prstGeom>
          <a:solidFill>
            <a:srgbClr val="4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AWS APIs</a:t>
            </a:r>
            <a:br/>
            <a:r>
              <a:t>(4 services)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86000"/>
            <a:ext cx="128016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5350"/>
                </a:solidFill>
              </a:defRPr>
            </a:pPr>
            <a:r>
              <a:t>MediaLive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20" y="2286000"/>
            <a:ext cx="128016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5350"/>
                </a:solidFill>
              </a:defRPr>
            </a:pPr>
            <a:r>
              <a:t>MediaPackage 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2286000"/>
            <a:ext cx="128016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5350"/>
                </a:solidFill>
              </a:defRPr>
            </a:pPr>
            <a:r>
              <a:t>MediaTailor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286000"/>
            <a:ext cx="128016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5350"/>
                </a:solidFill>
              </a:defRPr>
            </a:pPr>
            <a:r>
              <a:t>CloudFront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2651760"/>
            <a:ext cx="27432" cy="1828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10800000">
            <a:off x="2944368" y="2834640"/>
            <a:ext cx="182880" cy="137160"/>
          </a:xfrm>
          <a:prstGeom prst="triangl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017520"/>
            <a:ext cx="173736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66BB6A"/>
                </a:solidFill>
              </a:defRPr>
            </a:pPr>
            <a:r>
              <a:t>Normalize flat 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3017520"/>
            <a:ext cx="173736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66BB6A"/>
                </a:solidFill>
              </a:defRPr>
            </a:pPr>
            <a:r>
              <a:t>Validate fields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017520"/>
            <a:ext cx="1737360" cy="3657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66BB6A"/>
                </a:solidFill>
              </a:defRPr>
            </a:pPr>
            <a:r>
              <a:t>Remove duplicates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3383280"/>
            <a:ext cx="27432" cy="1828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10800000">
            <a:off x="2944368" y="3566160"/>
            <a:ext cx="182880" cy="137160"/>
          </a:xfrm>
          <a:prstGeom prst="triangl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71600" y="3749039"/>
            <a:ext cx="3200400" cy="4572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S3_KBConfig (~220 flat JSON configs)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4297680"/>
            <a:ext cx="3200400" cy="36576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+ DynamoDB StreamingConfigs (dual-write)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731520"/>
            <a:ext cx="5669280" cy="4114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CloudWatch Metrics Pipeline (every 1h)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371600"/>
            <a:ext cx="1463040" cy="594360"/>
          </a:xfrm>
          <a:prstGeom prst="round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EventBridge</a:t>
            </a:r>
            <a:br/>
            <a:r>
              <a:t>Scheduler (1h)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1645920"/>
            <a:ext cx="274320" cy="27432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8138160" y="1572768"/>
            <a:ext cx="137160" cy="182880"/>
          </a:xfrm>
          <a:prstGeom prst="triangle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0" y="1371600"/>
            <a:ext cx="1463040" cy="59436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Pipeline_Logs</a:t>
            </a:r>
            <a:br/>
            <a:r>
              <a:t>Lambda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1645920"/>
            <a:ext cx="274320" cy="27432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5400000">
            <a:off x="9966960" y="1572768"/>
            <a:ext cx="137160" cy="182880"/>
          </a:xfrm>
          <a:prstGeom prst="triangle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58400" y="1371600"/>
            <a:ext cx="1645920" cy="594360"/>
          </a:xfrm>
          <a:prstGeom prst="round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CloudWatch</a:t>
            </a:r>
            <a:br/>
            <a:r>
              <a:t>Metrics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1965960"/>
            <a:ext cx="27432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8887968" y="2148840"/>
            <a:ext cx="182880" cy="137160"/>
          </a:xfrm>
          <a:prstGeom prst="triangl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2286000"/>
            <a:ext cx="1280160" cy="3657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212121"/>
                </a:solidFill>
              </a:defRPr>
            </a:pPr>
            <a:r>
              <a:t>INFO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18120" y="2286000"/>
            <a:ext cx="1280160" cy="365760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212121"/>
                </a:solidFill>
              </a:defRPr>
            </a:pPr>
            <a:r>
              <a:t>WARNING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2286000"/>
            <a:ext cx="1280160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ERROR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52760" y="2286000"/>
            <a:ext cx="1280160" cy="36576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2651760"/>
            <a:ext cx="27432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 rot="10800000">
            <a:off x="8887968" y="2834640"/>
            <a:ext cx="182880" cy="137160"/>
          </a:xfrm>
          <a:prstGeom prst="triangl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83680" y="3017520"/>
            <a:ext cx="5029200" cy="10972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0" y="3063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Structured Event: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33375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BDBDBD"/>
                </a:solidFill>
              </a:defRPr>
            </a:pPr>
            <a:r>
              <a:t>timestamp | channel | severity | error_type</a:t>
            </a:r>
          </a:p>
          <a:p>
            <a:pPr>
              <a:spcAft>
                <a:spcPts val="600"/>
              </a:spcAft>
              <a:defRPr sz="1000">
                <a:solidFill>
                  <a:srgbClr val="BDBDBD"/>
                </a:solidFill>
              </a:defRPr>
            </a:pPr>
            <a:r>
              <a:t>description | probable_cause</a:t>
            </a:r>
          </a:p>
          <a:p>
            <a:pPr>
              <a:spcAft>
                <a:spcPts val="600"/>
              </a:spcAft>
              <a:defRPr sz="1000">
                <a:solidFill>
                  <a:srgbClr val="BDBDBD"/>
                </a:solidFill>
              </a:defRPr>
            </a:pPr>
            <a:r>
              <a:t>recommended_fix | source_service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0" y="4114800"/>
            <a:ext cx="27432" cy="1828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 rot="10800000">
            <a:off x="8887968" y="4297680"/>
            <a:ext cx="182880" cy="137160"/>
          </a:xfrm>
          <a:prstGeom prst="triangl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132320" y="4480560"/>
            <a:ext cx="3657600" cy="4572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S3_KBLogs (Structured Events)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5029200"/>
            <a:ext cx="3657600" cy="36576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+ DynamoDB StreamingLogs (dual-write, TTL 30d)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0" y="5486400"/>
            <a:ext cx="3657600" cy="365760"/>
          </a:xfrm>
          <a:prstGeom prst="round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+ SNS Proactive Alerts (ERROR/CRITICAL)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035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DBDBD"/>
                </a:solidFill>
              </a:defRPr>
            </a:pPr>
            <a:r>
              <a:t>Dual-write feeds both Bedrock KB (RAG via S3) and DynamoDB (fast queries). SNS alerts for ERROR/CRITICAL events.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Multi-Region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303520" cy="566928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5303520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us-east-1  (API / AI / Auth)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286000" cy="384048"/>
          </a:xfrm>
          <a:prstGeom prst="round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Amazon Cognito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User Pool, JWT Auth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38528"/>
            <a:ext cx="2286000" cy="38404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API Gateway 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984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REST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14016"/>
            <a:ext cx="2286000" cy="38404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Lambda Function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4597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Streaming, 5min timeout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9504"/>
            <a:ext cx="2286000" cy="38404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Orchestrator Lambda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9352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Entry 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64992"/>
            <a:ext cx="2286000" cy="384048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Bedrock Agent (Claude)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4107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RAG, Portuguese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2286000" cy="384048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Knowledge Bases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KB_CONFIG + KB_LOGS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15968"/>
            <a:ext cx="2286000" cy="384048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DynamoDB Tables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361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StreamingConfigs + StreamingLogs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91456"/>
            <a:ext cx="2286000" cy="38404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Configurator Lambda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8371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Create channels + rollback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66944"/>
            <a:ext cx="2286000" cy="38404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Exporter Lambda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3126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DynamoDB queries + S3 fallback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2286000" cy="384048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S3 Buckets (5)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5788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Config, Logs, Audit, Exports, FE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6217920"/>
            <a:ext cx="2286000" cy="384048"/>
          </a:xfrm>
          <a:prstGeom prst="round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SNS + EventBridge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t>Proactive alerts + Schedulers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822960"/>
            <a:ext cx="5303520" cy="5669280"/>
          </a:xfrm>
          <a:prstGeom prst="rect">
            <a:avLst/>
          </a:prstGeom>
          <a:solidFill>
            <a:srgbClr val="4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822960"/>
            <a:ext cx="5303520" cy="45720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sa-east-1  (Streaming Services)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1554480"/>
            <a:ext cx="2286000" cy="7772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AWS MediaLive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1645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</a:defRPr>
            </a:pPr>
            <a:r>
              <a:t>Live channels, RTMP/RTP inputs</a:t>
            </a:r>
            <a:br/>
            <a:r>
              <a:t>Automatic failover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2514600"/>
            <a:ext cx="2286000" cy="7772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AWS MediaPackage V2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06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</a:defRPr>
            </a:pPr>
            <a:r>
              <a:t>Channel Groups, Channels</a:t>
            </a:r>
            <a:br/>
            <a:r>
              <a:t>HLS/DASH endpoints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3474720"/>
            <a:ext cx="2286000" cy="7772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AWS MediaTailor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566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</a:defRPr>
            </a:pPr>
            <a:r>
              <a:t>Ad insertion</a:t>
            </a:r>
            <a:br/>
            <a:r>
              <a:t>Content personalization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4434840"/>
            <a:ext cx="2286000" cy="77724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Amazon CloudFront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526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</a:defRPr>
            </a:pPr>
            <a:r>
              <a:t>CDN distributions</a:t>
            </a:r>
            <a:br/>
            <a:r>
              <a:t>Content delivery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5394960"/>
            <a:ext cx="2286000" cy="777240"/>
          </a:xfrm>
          <a:prstGeom prst="round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Amazon CloudWatch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5486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</a:defRPr>
            </a:pPr>
            <a:r>
              <a:t>Health metrics</a:t>
            </a:r>
            <a:br/>
            <a:r>
              <a:t>from all 4 services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3200400"/>
            <a:ext cx="640080" cy="36576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60720" y="3383280"/>
            <a:ext cx="640080" cy="36576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23560" y="2834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DD835"/>
                </a:solidFill>
              </a:defRPr>
            </a:pPr>
            <a:r>
              <a:t>APIs +</a:t>
            </a:r>
            <a:br/>
            <a:r>
              <a:t>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HTML/JS, Amazon S3, CloudFront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Amazon Cognito (User Pool, admin-only)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735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API Gateway REST + Lambda Function URL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59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404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AI /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4223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Amazon Bedrock (Claude), RAG with Knowledge Bases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Compute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AWS Lambda (Python 3.9+)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532120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79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Amazon S3 (5 buckets) + DynamoDB (fast queries)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188720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234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Streaming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5361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MediaLive, MediaPackage V2, MediaTailor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057400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CDN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Amazon CloudFront (distributions)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926080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Scheduling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2735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Amazon EventBridge Scheduler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794759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8404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Notifications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14223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Amazon SNS (proactive alerts)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663440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IaC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010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AWS CDK (Python) — 10 modular stacks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5532120"/>
            <a:ext cx="5029200" cy="685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47BC"/>
                </a:solidFill>
              </a:defRPr>
            </a:pPr>
            <a:r>
              <a:t>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879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Amazon CloudWatch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Feature 1: RAG-Powered Chatbot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486400" cy="5029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7"/>
                </a:solidFill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Operator asks questions in natural language (PT-BR)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Bedrock Agent queries 2 Knowledge Bases via RAG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Exporter uses DynamoDB for sub-second data queries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KB_CONFIG: ~220 channel configurations (flat JSON)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KB_LOGS: Structured events from CloudWatch metrics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45+ categorized suggestions in the sidebar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Health check, comparison, audit history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188720"/>
            <a:ext cx="5029200" cy="5029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BB6A"/>
                </a:solidFill>
              </a:defRPr>
            </a:pPr>
            <a:r>
              <a:t>Example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"Which channels have 1080p resolution?"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"Show critical errors from the last 24h"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"What is the configuration of channel X?"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"Which channels use H.265 codec?"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"Export all MediaLive channels as CSV"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"Which channels have active failover?"</a:t>
            </a:r>
          </a:p>
          <a:p>
            <a:pPr>
              <a:spcAft>
                <a:spcPts val="600"/>
              </a:spcAft>
              <a:defRPr sz="1400">
                <a:solidFill>
                  <a:srgbClr val="BDBDBD"/>
                </a:solidFill>
              </a:defRPr>
            </a:pPr>
            <a:r>
              <a:t>"Summarize issues for channel Y"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Knowledge Base: Streaming Documentation &amp;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</a:defRPr>
            </a:pPr>
            <a:r>
              <a:t>Beyond channel configs and metrics, the KB also ingests 56 reference documents from Unified Streaming and AWS,</a:t>
            </a:r>
            <a:br/>
            <a:r>
              <a:t>enabling the chatbot to answer general streaming questions and provide expert guidance.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5486400" cy="48463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86400" cy="4572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Unified Streaming Documentation (40+ PDFs)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54864" cy="685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</a:defRPr>
            </a:pPr>
            <a:r>
              <a:t>Streaming Protocols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</a:defRPr>
            </a:pPr>
            <a:r>
              <a:t>ABR Streaming, MPEG-DASH, HLS (TS &amp; fMP4),</a:t>
            </a:r>
            <a:br/>
            <a:r>
              <a:t>HTTP Smooth Streaming (HSS), HTTP Dynamic Streaming (HDS)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00400"/>
            <a:ext cx="54864" cy="685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</a:defRPr>
            </a:pPr>
            <a:r>
              <a:t>Content Protection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74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</a:defRPr>
            </a:pPr>
            <a:r>
              <a:t>Common Encryption (CENC), Multi-DRM (CENC + PIFF),</a:t>
            </a:r>
            <a:br/>
            <a:r>
              <a:t>CPIX, DRM with Key Rotation, Trans DRM, Watermarking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23360"/>
            <a:ext cx="54864" cy="685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</a:defRPr>
            </a:pPr>
            <a:r>
              <a:t>Packaging &amp; Origin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976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</a:defRPr>
            </a:pPr>
            <a:r>
              <a:t>Packaging for DASH / HLS / HSS / HDS,</a:t>
            </a:r>
            <a:br/>
            <a:r>
              <a:t>Unified Origin, Dynamic Manifests, Player URLs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46320"/>
            <a:ext cx="54864" cy="685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46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</a:defRPr>
            </a:pPr>
            <a:r>
              <a:t>Advanced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20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</a:defRPr>
            </a:pPr>
            <a:r>
              <a:t>Low Latency (DVB-DASH), Trick Play, Subtitles,</a:t>
            </a:r>
            <a:br/>
            <a:r>
              <a:t>ID3 Tags, Alternate Audio, Tiled Thumbnails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669280"/>
            <a:ext cx="54864" cy="685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669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</a:defRPr>
            </a:pPr>
            <a:r>
              <a:t>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943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</a:defRPr>
            </a:pPr>
            <a:r>
              <a:t>Media Processing Overview, Pipeline Configuration,</a:t>
            </a:r>
            <a:br/>
            <a:r>
              <a:t>Plugin Library, Encoding Services (x264)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37360"/>
            <a:ext cx="5486400" cy="2743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5486400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AWS Service Documentation (6 PDFs)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377440"/>
            <a:ext cx="54864" cy="3200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</a:defRPr>
            </a:pPr>
            <a:r>
              <a:t>MediaLive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</a:defRPr>
            </a:pPr>
            <a:r>
              <a:t>User Guide + API Reference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788920"/>
            <a:ext cx="54864" cy="3200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788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</a:defRPr>
            </a:pPr>
            <a:r>
              <a:t>MediaPackage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</a:defRPr>
            </a:pPr>
            <a:r>
              <a:t>User Guide + API Reference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200400"/>
            <a:ext cx="54864" cy="3200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</a:defRPr>
            </a:pPr>
            <a:r>
              <a:t>MediaTailor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</a:defRPr>
            </a:pPr>
            <a:r>
              <a:t>API Reference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611880"/>
            <a:ext cx="54864" cy="3200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3611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</a:defRPr>
            </a:pPr>
            <a:r>
              <a:t>CloudFront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611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</a:defRPr>
            </a:pPr>
            <a:r>
              <a:t>Developer Guide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023360"/>
            <a:ext cx="54864" cy="3200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4023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</a:defRPr>
            </a:pPr>
            <a:r>
              <a:t>SPEKE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</a:defRPr>
            </a:pPr>
            <a:r>
              <a:t>Secure Packager &amp; Encoder Key Exchange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663440"/>
            <a:ext cx="5486400" cy="19202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663440"/>
            <a:ext cx="5486400" cy="4114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Example General Streaming Questions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1663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"What is the difference between HLS and DASH?"</a:t>
            </a:r>
          </a:p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"How does Common Encryption (CENC) work?"</a:t>
            </a:r>
          </a:p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"Explain ABR streaming and how bitrate adaptation works"</a:t>
            </a:r>
          </a:p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"What are best practices for low-latency live streaming?"</a:t>
            </a:r>
          </a:p>
          <a:p>
            <a:pPr>
              <a:spcAft>
                <a:spcPts val="600"/>
              </a:spcAft>
              <a:defRPr sz="1100">
                <a:solidFill>
                  <a:srgbClr val="BDBDBD"/>
                </a:solidFill>
              </a:defRPr>
            </a:pPr>
            <a:r>
              <a:t>"How do I configure DRM with multiple keys?"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Main Data 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15544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73152" cy="15544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C3F7"/>
                </a:solidFill>
              </a:defRPr>
            </a:pPr>
            <a:r>
              <a:t>1. Query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</a:defRPr>
            </a:pPr>
            <a:r>
              <a:t>User  &gt;  Frontend (CloudFront + S3)  &gt;  Lambda Function URL (5min)  &gt;  Bedrock Agent (Claude)  &gt;  Knowledge Bases (RAG)  &gt;  Contextualized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11247120" cy="15544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73152" cy="15544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B6A"/>
                </a:solidFill>
              </a:defRPr>
            </a:pPr>
            <a:r>
              <a:t>2. Export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</a:defRPr>
            </a:pPr>
            <a:r>
              <a:t>User requests export  &gt;  Direct bypass (no Bedrock)  &gt;  Exporter Lambda  &gt;  DynamoDB query (&lt;500ms) with S3 fallback  &gt;  CSV/JSON  &gt;  Pre-signed URL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46320"/>
            <a:ext cx="11247120" cy="15544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846320"/>
            <a:ext cx="73152" cy="15544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</a:defRPr>
            </a:pPr>
            <a:r>
              <a:t>3. Creation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94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</a:defRPr>
            </a:pPr>
            <a:r>
              <a:t>User requests channel  &gt;  Bedrock collects parameters  &gt;  Configurator Lambda  &gt;  Template cloning (MPV2 endpoints)  &gt;  4 orchestrated steps  &gt;  Rollback on failure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Infrastructure as Code — AWS CDK (Python)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0352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07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</a:defRPr>
            </a:pPr>
            <a:r>
              <a:t>main_stack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</a:defRPr>
            </a:pPr>
            <a:r>
              <a:t>Overall stack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530352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73152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756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</a:defRPr>
            </a:pPr>
            <a:r>
              <a:t>api_stack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04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</a:defRPr>
            </a:pPr>
            <a:r>
              <a:t>API Gateway REST + Orchestrator Lambda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30352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73152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9443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</a:defRPr>
            </a:pPr>
            <a:r>
              <a:t>bedrock_agent_stack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735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</a:defRPr>
            </a:pPr>
            <a:r>
              <a:t>Bedrock Agent + Portuguese instructions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59"/>
            <a:ext cx="530352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94759"/>
            <a:ext cx="73152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81304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</a:defRPr>
            </a:pPr>
            <a:r>
              <a:t>bedrock_kb_stack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4223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</a:defRPr>
            </a:pPr>
            <a:r>
              <a:t>Knowledge Bases (Config + Logs)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530352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663440"/>
            <a:ext cx="73152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681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</a:defRPr>
            </a:pPr>
            <a:r>
              <a:t>s3_stack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109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</a:defRPr>
            </a:pPr>
            <a:r>
              <a:t>5 S3 buckets with lifecycle policies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32120"/>
            <a:ext cx="530352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532120"/>
            <a:ext cx="73152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550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</a:defRPr>
            </a:pPr>
            <a:r>
              <a:t>dynamodb_stack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879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</a:defRPr>
            </a:pPr>
            <a:r>
              <a:t>DynamoDB tables (StreamingConfigs + Logs)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1188720"/>
            <a:ext cx="530352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1188720"/>
            <a:ext cx="73152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1207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</a:defRPr>
            </a:pPr>
            <a:r>
              <a:t>configuradora_stack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15361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</a:defRPr>
            </a:pPr>
            <a:r>
              <a:t>Configurator Lambda (create channels)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2057400"/>
            <a:ext cx="530352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2057400"/>
            <a:ext cx="73152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20756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</a:defRPr>
            </a:pPr>
            <a:r>
              <a:t>exportadora_stack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2404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</a:defRPr>
            </a:pPr>
            <a:r>
              <a:t>Exporter Lambda (CSV/JSON)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2926080"/>
            <a:ext cx="530352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2926080"/>
            <a:ext cx="73152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29443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</a:defRPr>
            </a:pPr>
            <a:r>
              <a:t>pipeline_config_stack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32735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</a:defRPr>
            </a:pPr>
            <a:r>
              <a:t>Config Pipeline + EventBridge (6h)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3794759"/>
            <a:ext cx="530352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3794759"/>
            <a:ext cx="73152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0" y="381304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</a:defRPr>
            </a:pPr>
            <a:r>
              <a:t>pipeline_logs_stack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14223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</a:defRPr>
            </a:pPr>
            <a:r>
              <a:t>Logs Pipeline + EventBridge (1h)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2240" y="4663440"/>
            <a:ext cx="530352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92240" y="4663440"/>
            <a:ext cx="73152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0" y="4681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</a:defRPr>
            </a:pPr>
            <a:r>
              <a:t>frontend_stack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50109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</a:defRPr>
            </a:pPr>
            <a:r>
              <a:t>S3 + CloudFront for hosting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DBDBD"/>
                </a:solidFill>
              </a:defRPr>
            </a:pPr>
            <a:r>
              <a:t>Multi-region deploy: us-east-1 (API / Bedrock / Cognito)  +  sa-east-1 (Streaming Services)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Security &amp; Authentication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515600" cy="7772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73152" cy="7772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34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350"/>
                </a:solidFill>
              </a:defRPr>
            </a:pPr>
            <a:r>
              <a:t>Amazon Cognito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</a:defRPr>
            </a:pPr>
            <a:r>
              <a:t>User Pool with self-signup disabled, admin-only user creation, JWT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10515600" cy="7772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73152" cy="7772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48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350"/>
                </a:solidFill>
              </a:defRPr>
            </a:pPr>
            <a:r>
              <a:t>IAM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68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</a:defRPr>
            </a:pPr>
            <a:r>
              <a:t>Least privilege for each Lambda — minimum required permissions per table/bucket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515600" cy="7772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73152" cy="7772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063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350"/>
                </a:solidFill>
              </a:defRPr>
            </a:pPr>
            <a:r>
              <a:t>S3 Lifecycle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83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</a:defRPr>
            </a:pPr>
            <a:r>
              <a:t>Exports: 24h TTL | Audit: 365-day retention | KBs: versioning enabled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10515600" cy="7772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73152" cy="7772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977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350"/>
                </a:solidFill>
              </a:defRPr>
            </a:pPr>
            <a:r>
              <a:t>DynamoDB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97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</a:defRPr>
            </a:pPr>
            <a:r>
              <a:t>Encryption at rest (AWS managed key), point-in-time recovery on StreamingConfigs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46320"/>
            <a:ext cx="10515600" cy="7772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846320"/>
            <a:ext cx="73152" cy="7772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892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350"/>
                </a:solidFill>
              </a:defRPr>
            </a:pPr>
            <a:r>
              <a:t>CloudFront OAI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212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</a:defRPr>
            </a:pPr>
            <a:r>
              <a:t>Origin Access Identity for secure S3 Frontend access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60720"/>
            <a:ext cx="10515600" cy="7772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760720"/>
            <a:ext cx="73152" cy="7772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350"/>
                </a:solidFill>
              </a:defRPr>
            </a:pPr>
            <a:r>
              <a:t>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</a:defRPr>
            </a:pPr>
            <a:r>
              <a:t>Complete record of all operations stored in S3_Audit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Monthly Cost Estimate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371600"/>
            <a:ext cx="4572000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3657600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Estimated Cost / 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011680"/>
            <a:ext cx="45720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B47BC"/>
                </a:solidFill>
              </a:defRPr>
            </a:pPr>
            <a:r>
              <a:t>Amazon Bedrock (Claude)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36576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$30 — $100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651760"/>
            <a:ext cx="45720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BB6A"/>
                </a:solidFill>
              </a:defRPr>
            </a:pPr>
            <a:r>
              <a:t>Amazon S3 (5 buckets)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651760"/>
            <a:ext cx="36576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$1 — $5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3291840"/>
            <a:ext cx="45720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D47A1"/>
                </a:solidFill>
              </a:defRPr>
            </a:pPr>
            <a:r>
              <a:t>Amazon DynamoDB (2 tables + GSIs)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91840"/>
            <a:ext cx="36576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~$3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931919"/>
            <a:ext cx="45720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40233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9800"/>
                </a:solidFill>
              </a:defRPr>
            </a:pPr>
            <a:r>
              <a:t>AWS Lambda (5 functions)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31919"/>
            <a:ext cx="36576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0233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$0 — $5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4572000"/>
            <a:ext cx="45720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4663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FC3F7"/>
                </a:solidFill>
              </a:defRPr>
            </a:pPr>
            <a:r>
              <a:t>Amazon CloudFront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572000"/>
            <a:ext cx="36576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$1 — $5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5212080"/>
            <a:ext cx="45720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SNS + Cognito + API GW + EventBridge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5212080"/>
            <a:ext cx="365760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Minimal (~$2)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6035039"/>
            <a:ext cx="4572000" cy="6400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ESTIMATED TOTAL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6035039"/>
            <a:ext cx="3657600" cy="6400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$38 — $125 / month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69494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</a:defRPr>
            </a:pPr>
            <a:r>
              <a:t>* Streaming service costs (MediaLive, MediaPackage, etc.) are separate and usage-dependent.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Lambda Functions — Detail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515600" cy="960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73152" cy="960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143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800"/>
                </a:solidFill>
              </a:defRPr>
            </a:pPr>
            <a:r>
              <a:t>Orchestrator Lambda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Main entry point. Invokes Bedrock Agent for queries. Direct bypass for exports and config downloads.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10515600" cy="960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73152" cy="96012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40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5350"/>
                </a:solidFill>
              </a:defRPr>
            </a:pPr>
            <a:r>
              <a:t>Configurator Lambda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06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Creates/modifies AWS resources with template cloning. Channel comparison, audit history, health check dashboard. Orchestrated creation with rollback.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515600" cy="960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91840"/>
            <a:ext cx="73152" cy="9601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337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6BB6A"/>
                </a:solidFill>
              </a:defRPr>
            </a:pPr>
            <a:r>
              <a:t>Exporter Lambda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Queries DynamoDB (primary) with S3 fallback. Generates CSV/JSON with pre-signed URLs. Sub-second query latency.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19"/>
            <a:ext cx="10515600" cy="960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89119"/>
            <a:ext cx="73152" cy="9601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43483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FC3F7"/>
                </a:solidFill>
              </a:defRPr>
            </a:pPr>
            <a:r>
              <a:t>Pipeline_Config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0059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Collects configs from 4 services every 6h. Dual-write: S3 (RAG) + DynamoDB StreamingConfigs (fast queries).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10515600" cy="960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486400"/>
            <a:ext cx="73152" cy="9601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532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B47BC"/>
                </a:solidFill>
              </a:defRPr>
            </a:pPr>
            <a:r>
              <a:t>Pipeline_Logs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897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</a:defRPr>
            </a:pPr>
            <a:r>
              <a:t>Collects CloudWatch metrics every 1h. Classifies severity. Dual-write: S3 + DynamoDB StreamingLogs (TTL 30d). Proactive SNS alerts.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Next Steps /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51560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371600"/>
            <a:ext cx="1645920" cy="3657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DynamoDB as fast query layer — sub-second latency (was 30-120s)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1051560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73152" cy="7315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2240280"/>
            <a:ext cx="1645920" cy="3657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240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CloudWatch Metrics ingestion with severity classification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1051560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73152" cy="7315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3108960"/>
            <a:ext cx="1645920" cy="3657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Completed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108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Proactive SNS alerts for ERROR/CRITICAL events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59"/>
            <a:ext cx="1051560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94759"/>
            <a:ext cx="73152" cy="7315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77639"/>
            <a:ext cx="1645920" cy="3657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Completed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9776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Channel comparison, audit history, mass health check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1051560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663440"/>
            <a:ext cx="73152" cy="7315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4846320"/>
            <a:ext cx="1645920" cy="36576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Short term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Visual channel health dashboard in real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32120"/>
            <a:ext cx="10515600" cy="7315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532120"/>
            <a:ext cx="73152" cy="7315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5840" y="5715000"/>
            <a:ext cx="1645920" cy="3657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Mid term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715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DBDBD"/>
                </a:solidFill>
              </a:defRPr>
            </a:pPr>
            <a:r>
              <a:t>Predictive failure analysis using metrics history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743200"/>
            <a:ext cx="8229600" cy="32004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017520"/>
            <a:ext cx="7315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DBDBD"/>
                </a:solidFill>
              </a:defRPr>
            </a:pPr>
            <a:r>
              <a:t>AI-powered chatbot for NOC simplifying management of ~220 streaming channels</a:t>
            </a:r>
          </a:p>
          <a:p>
            <a:pPr>
              <a:spcAft>
                <a:spcPts val="600"/>
              </a:spcAft>
              <a:defRPr sz="1600">
                <a:solidFill>
                  <a:srgbClr val="BDBDBD"/>
                </a:solidFill>
              </a:defRPr>
            </a:pPr>
            <a:r>
              <a:t>Natural language queries with RAG over real data</a:t>
            </a:r>
          </a:p>
          <a:p>
            <a:pPr>
              <a:spcAft>
                <a:spcPts val="600"/>
              </a:spcAft>
              <a:defRPr sz="1600">
                <a:solidFill>
                  <a:srgbClr val="BDBDBD"/>
                </a:solidFill>
              </a:defRPr>
            </a:pPr>
            <a:r>
              <a:t>DynamoDB fast queries (&lt;500ms) replacing S3 scans (30-120s) with dual-write</a:t>
            </a:r>
          </a:p>
          <a:p>
            <a:pPr>
              <a:spcAft>
                <a:spcPts val="600"/>
              </a:spcAft>
              <a:defRPr sz="1600">
                <a:solidFill>
                  <a:srgbClr val="BDBDBD"/>
                </a:solidFill>
              </a:defRPr>
            </a:pPr>
            <a:r>
              <a:t>Automated channel creation with template cloning and rollback</a:t>
            </a:r>
          </a:p>
          <a:p>
            <a:pPr>
              <a:spcAft>
                <a:spcPts val="600"/>
              </a:spcAft>
              <a:defRPr sz="1600">
                <a:solidFill>
                  <a:srgbClr val="BDBDBD"/>
                </a:solidFill>
              </a:defRPr>
            </a:pPr>
            <a:r>
              <a:t>Proactive SNS alerts, health check dashboard, channel comparison, audit history</a:t>
            </a:r>
          </a:p>
          <a:p>
            <a:pPr>
              <a:spcAft>
                <a:spcPts val="600"/>
              </a:spcAft>
              <a:defRPr sz="1600">
                <a:solidFill>
                  <a:srgbClr val="BDBDBD"/>
                </a:solidFill>
              </a:defRPr>
            </a:pPr>
            <a:r>
              <a:t>Serverless, scalable, low-cost architecture ($38-125/month)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FC3F7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